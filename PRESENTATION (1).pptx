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64" r:id="rId6"/>
    <p:sldId id="284" r:id="rId7"/>
    <p:sldId id="285" r:id="rId8"/>
    <p:sldId id="288" r:id="rId9"/>
    <p:sldId id="289" r:id="rId10"/>
    <p:sldId id="292" r:id="rId11"/>
    <p:sldId id="259" r:id="rId12"/>
    <p:sldId id="260" r:id="rId13"/>
    <p:sldId id="261" r:id="rId14"/>
    <p:sldId id="262" r:id="rId15"/>
    <p:sldId id="263" r:id="rId16"/>
    <p:sldId id="265" r:id="rId17"/>
    <p:sldId id="293" r:id="rId18"/>
    <p:sldId id="267" r:id="rId19"/>
    <p:sldId id="299" r:id="rId20"/>
    <p:sldId id="300" r:id="rId21"/>
    <p:sldId id="301" r:id="rId22"/>
    <p:sldId id="302" r:id="rId23"/>
    <p:sldId id="268" r:id="rId24"/>
    <p:sldId id="303" r:id="rId25"/>
    <p:sldId id="270" r:id="rId26"/>
    <p:sldId id="296" r:id="rId27"/>
    <p:sldId id="304" r:id="rId28"/>
    <p:sldId id="276" r:id="rId29"/>
    <p:sldId id="277" r:id="rId30"/>
    <p:sldId id="278" r:id="rId31"/>
    <p:sldId id="269" r:id="rId32"/>
    <p:sldId id="286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8B2"/>
    <a:srgbClr val="CFF9FD"/>
    <a:srgbClr val="058593"/>
    <a:srgbClr val="B1ECED"/>
    <a:srgbClr val="FFFFFF"/>
    <a:srgbClr val="097C8F"/>
    <a:srgbClr val="1FD3F1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0D17D-CCE8-4D07-A913-E9FC03E69106}" v="984" dt="2026-05-11T22:10:26.884"/>
    <p1510:client id="{BDDDF0D9-8937-0E0C-1169-8038C6912A47}" v="1" dt="2026-05-11T11:23:47.296"/>
    <p1510:client id="{CB76DF43-8A49-2EFF-BA6B-D84708496E5C}" v="179" dt="2026-05-11T09:35:55.077"/>
    <p1510:client id="{CCF185AE-E808-4F4F-10DE-D587A393F3B9}" v="154" dt="2026-05-11T23:16:21.711"/>
    <p1510:client id="{CDF92DC0-8AF8-DA4C-BC36-4F687BA80DB4}" v="1" dt="2026-05-11T23:09:20.555"/>
    <p1510:client id="{D3834F44-228E-460B-94C7-541794AF3051}" v="1066" dt="2026-05-12T09:05:09.414"/>
    <p1510:client id="{D90E6AF7-15FD-C57C-3FCF-470599420337}" v="2552" dt="2026-05-11T07:18:02.422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7DC5E-A975-4D1C-952E-12801DBB8B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E8FF227-FC4E-4FDB-B86A-1AB8A110F684}">
      <dgm:prSet phldrT="[Texte]"/>
      <dgm:spPr>
        <a:solidFill>
          <a:srgbClr val="058593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b="1">
              <a:latin typeface="Lora"/>
            </a:rPr>
            <a:t>Introduction</a:t>
          </a:r>
          <a:endParaRPr lang="fr-FR">
            <a:latin typeface="Lora"/>
          </a:endParaRPr>
        </a:p>
      </dgm:t>
    </dgm:pt>
    <dgm:pt modelId="{BC8AF1BF-843A-488E-AB43-A25B9B92301A}" type="parTrans" cxnId="{84BAFFAA-28EA-40D7-9E00-5F077FD5EB7E}">
      <dgm:prSet/>
      <dgm:spPr/>
      <dgm:t>
        <a:bodyPr/>
        <a:lstStyle/>
        <a:p>
          <a:endParaRPr lang="fr-FR"/>
        </a:p>
      </dgm:t>
    </dgm:pt>
    <dgm:pt modelId="{D7CA7D9A-FF52-4097-8134-1E04DCFB77A0}" type="sibTrans" cxnId="{84BAFFAA-28EA-40D7-9E00-5F077FD5EB7E}">
      <dgm:prSet/>
      <dgm:spPr/>
      <dgm:t>
        <a:bodyPr/>
        <a:lstStyle/>
        <a:p>
          <a:endParaRPr lang="fr-FR"/>
        </a:p>
      </dgm:t>
    </dgm:pt>
    <dgm:pt modelId="{C0886B2D-A702-408F-9CCA-88BAA749CDAE}">
      <dgm:prSet phldrT="[Texte]"/>
      <dgm:spPr>
        <a:solidFill>
          <a:srgbClr val="058593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b="1">
              <a:latin typeface="Lora" pitchFamily="2" charset="0"/>
            </a:rPr>
            <a:t>Nuclear Imaging</a:t>
          </a:r>
          <a:endParaRPr lang="fr-FR"/>
        </a:p>
      </dgm:t>
    </dgm:pt>
    <dgm:pt modelId="{646D641C-E738-41B0-906D-2FE02B528ABA}" type="parTrans" cxnId="{663AEC17-BC87-4E88-B583-5442DE1C623A}">
      <dgm:prSet/>
      <dgm:spPr/>
      <dgm:t>
        <a:bodyPr/>
        <a:lstStyle/>
        <a:p>
          <a:endParaRPr lang="fr-FR"/>
        </a:p>
      </dgm:t>
    </dgm:pt>
    <dgm:pt modelId="{86F0CE73-4B3B-48C6-82CB-03D51B6647A1}" type="sibTrans" cxnId="{663AEC17-BC87-4E88-B583-5442DE1C623A}">
      <dgm:prSet/>
      <dgm:spPr/>
      <dgm:t>
        <a:bodyPr/>
        <a:lstStyle/>
        <a:p>
          <a:endParaRPr lang="fr-FR"/>
        </a:p>
      </dgm:t>
    </dgm:pt>
    <dgm:pt modelId="{F8CF9A8E-AD53-4A5C-BEB3-5852421A9D40}">
      <dgm:prSet/>
      <dgm:spPr>
        <a:solidFill>
          <a:srgbClr val="058593"/>
        </a:solidFill>
      </dgm:spPr>
      <dgm:t>
        <a:bodyPr/>
        <a:lstStyle/>
        <a:p>
          <a:r>
            <a:rPr lang="en-US" b="1">
              <a:latin typeface="Lora" pitchFamily="2" charset="0"/>
            </a:rPr>
            <a:t>Nuclear Therapy</a:t>
          </a:r>
        </a:p>
      </dgm:t>
    </dgm:pt>
    <dgm:pt modelId="{559603C7-11A9-4F6B-BBC9-FB3EDD146920}" type="parTrans" cxnId="{36AE7DB3-3CCD-4D57-9F88-4C8189ED436B}">
      <dgm:prSet/>
      <dgm:spPr/>
      <dgm:t>
        <a:bodyPr/>
        <a:lstStyle/>
        <a:p>
          <a:endParaRPr lang="fr-FR"/>
        </a:p>
      </dgm:t>
    </dgm:pt>
    <dgm:pt modelId="{098B5661-793F-46EC-A221-BB325430AA4B}" type="sibTrans" cxnId="{36AE7DB3-3CCD-4D57-9F88-4C8189ED436B}">
      <dgm:prSet/>
      <dgm:spPr/>
      <dgm:t>
        <a:bodyPr/>
        <a:lstStyle/>
        <a:p>
          <a:endParaRPr lang="fr-FR"/>
        </a:p>
      </dgm:t>
    </dgm:pt>
    <dgm:pt modelId="{130EE645-853A-4DEC-9BEF-C4B248DFF17B}">
      <dgm:prSet/>
      <dgm:spPr>
        <a:solidFill>
          <a:srgbClr val="058593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b="1">
              <a:latin typeface="Lora" pitchFamily="2" charset="0"/>
            </a:rPr>
            <a:t>Current Challenges</a:t>
          </a:r>
        </a:p>
      </dgm:t>
    </dgm:pt>
    <dgm:pt modelId="{83440498-8BCB-40D1-B22A-C5A32721FF4C}" type="parTrans" cxnId="{92BE61DF-7ED7-4928-91BC-40027AD7828C}">
      <dgm:prSet/>
      <dgm:spPr/>
      <dgm:t>
        <a:bodyPr/>
        <a:lstStyle/>
        <a:p>
          <a:endParaRPr lang="fr-FR"/>
        </a:p>
      </dgm:t>
    </dgm:pt>
    <dgm:pt modelId="{C43537F4-1457-4293-9BC6-5E61A0E4C838}" type="sibTrans" cxnId="{92BE61DF-7ED7-4928-91BC-40027AD7828C}">
      <dgm:prSet/>
      <dgm:spPr/>
      <dgm:t>
        <a:bodyPr/>
        <a:lstStyle/>
        <a:p>
          <a:endParaRPr lang="fr-FR"/>
        </a:p>
      </dgm:t>
    </dgm:pt>
    <dgm:pt modelId="{3BAA09DD-30B2-4B9E-9302-15305C0C85D4}" type="pres">
      <dgm:prSet presAssocID="{9E57DC5E-A975-4D1C-952E-12801DBB8BD8}" presName="Name0" presStyleCnt="0">
        <dgm:presLayoutVars>
          <dgm:chMax val="7"/>
          <dgm:chPref val="7"/>
          <dgm:dir/>
        </dgm:presLayoutVars>
      </dgm:prSet>
      <dgm:spPr/>
    </dgm:pt>
    <dgm:pt modelId="{BA105A8D-0A4E-4897-A763-AF8B2F007475}" type="pres">
      <dgm:prSet presAssocID="{9E57DC5E-A975-4D1C-952E-12801DBB8BD8}" presName="Name1" presStyleCnt="0"/>
      <dgm:spPr/>
    </dgm:pt>
    <dgm:pt modelId="{4A0FE408-2A96-4729-9ACE-302C0595B601}" type="pres">
      <dgm:prSet presAssocID="{9E57DC5E-A975-4D1C-952E-12801DBB8BD8}" presName="cycle" presStyleCnt="0"/>
      <dgm:spPr/>
    </dgm:pt>
    <dgm:pt modelId="{47AC7A90-F4EF-473A-9B72-A066B998FF65}" type="pres">
      <dgm:prSet presAssocID="{9E57DC5E-A975-4D1C-952E-12801DBB8BD8}" presName="srcNode" presStyleLbl="node1" presStyleIdx="0" presStyleCnt="4"/>
      <dgm:spPr/>
    </dgm:pt>
    <dgm:pt modelId="{49A458BA-1581-4CF5-A72E-4B3961822CFE}" type="pres">
      <dgm:prSet presAssocID="{9E57DC5E-A975-4D1C-952E-12801DBB8BD8}" presName="conn" presStyleLbl="parChTrans1D2" presStyleIdx="0" presStyleCnt="1"/>
      <dgm:spPr/>
    </dgm:pt>
    <dgm:pt modelId="{D60B17E7-B0FB-4EF1-8FBA-D8A5B9E6D6C8}" type="pres">
      <dgm:prSet presAssocID="{9E57DC5E-A975-4D1C-952E-12801DBB8BD8}" presName="extraNode" presStyleLbl="node1" presStyleIdx="0" presStyleCnt="4"/>
      <dgm:spPr/>
    </dgm:pt>
    <dgm:pt modelId="{647DEC07-8C7F-4DD1-B7BB-2E4EA4D6AE15}" type="pres">
      <dgm:prSet presAssocID="{9E57DC5E-A975-4D1C-952E-12801DBB8BD8}" presName="dstNode" presStyleLbl="node1" presStyleIdx="0" presStyleCnt="4"/>
      <dgm:spPr/>
    </dgm:pt>
    <dgm:pt modelId="{D29BD20B-04F5-4508-BF4D-D32C9210A444}" type="pres">
      <dgm:prSet presAssocID="{CE8FF227-FC4E-4FDB-B86A-1AB8A110F684}" presName="text_1" presStyleLbl="node1" presStyleIdx="0" presStyleCnt="4">
        <dgm:presLayoutVars>
          <dgm:bulletEnabled val="1"/>
        </dgm:presLayoutVars>
      </dgm:prSet>
      <dgm:spPr/>
    </dgm:pt>
    <dgm:pt modelId="{4685B3DC-F00D-47B4-A72B-F8064D80B0BE}" type="pres">
      <dgm:prSet presAssocID="{CE8FF227-FC4E-4FDB-B86A-1AB8A110F684}" presName="accent_1" presStyleCnt="0"/>
      <dgm:spPr/>
    </dgm:pt>
    <dgm:pt modelId="{4300FAB7-8253-4D28-8AC0-D77DD6B21174}" type="pres">
      <dgm:prSet presAssocID="{CE8FF227-FC4E-4FDB-B86A-1AB8A110F684}" presName="accentRepeatNode" presStyleLbl="solidFgAcc1" presStyleIdx="0" presStyleCnt="4"/>
      <dgm:spPr/>
    </dgm:pt>
    <dgm:pt modelId="{67635D30-3604-4AD3-AED5-BA7E45D4F45F}" type="pres">
      <dgm:prSet presAssocID="{C0886B2D-A702-408F-9CCA-88BAA749CDAE}" presName="text_2" presStyleLbl="node1" presStyleIdx="1" presStyleCnt="4">
        <dgm:presLayoutVars>
          <dgm:bulletEnabled val="1"/>
        </dgm:presLayoutVars>
      </dgm:prSet>
      <dgm:spPr/>
    </dgm:pt>
    <dgm:pt modelId="{0E59C379-67D6-425B-AB85-53321A8F5B1F}" type="pres">
      <dgm:prSet presAssocID="{C0886B2D-A702-408F-9CCA-88BAA749CDAE}" presName="accent_2" presStyleCnt="0"/>
      <dgm:spPr/>
    </dgm:pt>
    <dgm:pt modelId="{514DC910-8D20-4EEC-A179-828469C0ED5A}" type="pres">
      <dgm:prSet presAssocID="{C0886B2D-A702-408F-9CCA-88BAA749CDAE}" presName="accentRepeatNode" presStyleLbl="solidFgAcc1" presStyleIdx="1" presStyleCnt="4"/>
      <dgm:spPr/>
    </dgm:pt>
    <dgm:pt modelId="{C0B443C8-EC88-4340-90F0-6324B61CD14B}" type="pres">
      <dgm:prSet presAssocID="{F8CF9A8E-AD53-4A5C-BEB3-5852421A9D40}" presName="text_3" presStyleLbl="node1" presStyleIdx="2" presStyleCnt="4">
        <dgm:presLayoutVars>
          <dgm:bulletEnabled val="1"/>
        </dgm:presLayoutVars>
      </dgm:prSet>
      <dgm:spPr/>
    </dgm:pt>
    <dgm:pt modelId="{3E0F0666-1459-4859-AFB9-6B04F0680FDA}" type="pres">
      <dgm:prSet presAssocID="{F8CF9A8E-AD53-4A5C-BEB3-5852421A9D40}" presName="accent_3" presStyleCnt="0"/>
      <dgm:spPr/>
    </dgm:pt>
    <dgm:pt modelId="{0B79C04E-E8CB-4C13-82F5-42AEB9932B51}" type="pres">
      <dgm:prSet presAssocID="{F8CF9A8E-AD53-4A5C-BEB3-5852421A9D40}" presName="accentRepeatNode" presStyleLbl="solidFgAcc1" presStyleIdx="2" presStyleCnt="4"/>
      <dgm:spPr/>
    </dgm:pt>
    <dgm:pt modelId="{9D6CC719-FEF2-42B9-B658-5060F7F971C0}" type="pres">
      <dgm:prSet presAssocID="{130EE645-853A-4DEC-9BEF-C4B248DFF17B}" presName="text_4" presStyleLbl="node1" presStyleIdx="3" presStyleCnt="4">
        <dgm:presLayoutVars>
          <dgm:bulletEnabled val="1"/>
        </dgm:presLayoutVars>
      </dgm:prSet>
      <dgm:spPr/>
    </dgm:pt>
    <dgm:pt modelId="{EF0874D6-9ECD-44C7-916E-78D50D129CC0}" type="pres">
      <dgm:prSet presAssocID="{130EE645-853A-4DEC-9BEF-C4B248DFF17B}" presName="accent_4" presStyleCnt="0"/>
      <dgm:spPr/>
    </dgm:pt>
    <dgm:pt modelId="{3CDBC534-7EB5-4BCE-A156-BE27FABC13B4}" type="pres">
      <dgm:prSet presAssocID="{130EE645-853A-4DEC-9BEF-C4B248DFF17B}" presName="accentRepeatNode" presStyleLbl="solidFgAcc1" presStyleIdx="3" presStyleCnt="4"/>
      <dgm:spPr/>
    </dgm:pt>
  </dgm:ptLst>
  <dgm:cxnLst>
    <dgm:cxn modelId="{663AEC17-BC87-4E88-B583-5442DE1C623A}" srcId="{9E57DC5E-A975-4D1C-952E-12801DBB8BD8}" destId="{C0886B2D-A702-408F-9CCA-88BAA749CDAE}" srcOrd="1" destOrd="0" parTransId="{646D641C-E738-41B0-906D-2FE02B528ABA}" sibTransId="{86F0CE73-4B3B-48C6-82CB-03D51B6647A1}"/>
    <dgm:cxn modelId="{C753475D-F984-4785-A57B-B4986E867D14}" type="presOf" srcId="{130EE645-853A-4DEC-9BEF-C4B248DFF17B}" destId="{9D6CC719-FEF2-42B9-B658-5060F7F971C0}" srcOrd="0" destOrd="0" presId="urn:microsoft.com/office/officeart/2008/layout/VerticalCurvedList"/>
    <dgm:cxn modelId="{C48FE959-B141-4E69-8411-B3959AFEC768}" type="presOf" srcId="{D7CA7D9A-FF52-4097-8134-1E04DCFB77A0}" destId="{49A458BA-1581-4CF5-A72E-4B3961822CFE}" srcOrd="0" destOrd="0" presId="urn:microsoft.com/office/officeart/2008/layout/VerticalCurvedList"/>
    <dgm:cxn modelId="{D2BFE482-5B34-4FE1-B1F4-CCE667EFB347}" type="presOf" srcId="{CE8FF227-FC4E-4FDB-B86A-1AB8A110F684}" destId="{D29BD20B-04F5-4508-BF4D-D32C9210A444}" srcOrd="0" destOrd="0" presId="urn:microsoft.com/office/officeart/2008/layout/VerticalCurvedList"/>
    <dgm:cxn modelId="{01A0FA9C-AF63-4862-9693-3E2EA57A5079}" type="presOf" srcId="{C0886B2D-A702-408F-9CCA-88BAA749CDAE}" destId="{67635D30-3604-4AD3-AED5-BA7E45D4F45F}" srcOrd="0" destOrd="0" presId="urn:microsoft.com/office/officeart/2008/layout/VerticalCurvedList"/>
    <dgm:cxn modelId="{382F099F-9984-48E6-916F-D85005F6BF2D}" type="presOf" srcId="{F8CF9A8E-AD53-4A5C-BEB3-5852421A9D40}" destId="{C0B443C8-EC88-4340-90F0-6324B61CD14B}" srcOrd="0" destOrd="0" presId="urn:microsoft.com/office/officeart/2008/layout/VerticalCurvedList"/>
    <dgm:cxn modelId="{84BAFFAA-28EA-40D7-9E00-5F077FD5EB7E}" srcId="{9E57DC5E-A975-4D1C-952E-12801DBB8BD8}" destId="{CE8FF227-FC4E-4FDB-B86A-1AB8A110F684}" srcOrd="0" destOrd="0" parTransId="{BC8AF1BF-843A-488E-AB43-A25B9B92301A}" sibTransId="{D7CA7D9A-FF52-4097-8134-1E04DCFB77A0}"/>
    <dgm:cxn modelId="{36AE7DB3-3CCD-4D57-9F88-4C8189ED436B}" srcId="{9E57DC5E-A975-4D1C-952E-12801DBB8BD8}" destId="{F8CF9A8E-AD53-4A5C-BEB3-5852421A9D40}" srcOrd="2" destOrd="0" parTransId="{559603C7-11A9-4F6B-BBC9-FB3EDD146920}" sibTransId="{098B5661-793F-46EC-A221-BB325430AA4B}"/>
    <dgm:cxn modelId="{B6475ABE-B3F1-49B9-984C-00805B2B48B2}" type="presOf" srcId="{9E57DC5E-A975-4D1C-952E-12801DBB8BD8}" destId="{3BAA09DD-30B2-4B9E-9302-15305C0C85D4}" srcOrd="0" destOrd="0" presId="urn:microsoft.com/office/officeart/2008/layout/VerticalCurvedList"/>
    <dgm:cxn modelId="{92BE61DF-7ED7-4928-91BC-40027AD7828C}" srcId="{9E57DC5E-A975-4D1C-952E-12801DBB8BD8}" destId="{130EE645-853A-4DEC-9BEF-C4B248DFF17B}" srcOrd="3" destOrd="0" parTransId="{83440498-8BCB-40D1-B22A-C5A32721FF4C}" sibTransId="{C43537F4-1457-4293-9BC6-5E61A0E4C838}"/>
    <dgm:cxn modelId="{E5880ADB-57F2-46D7-8191-64B2ED641999}" type="presParOf" srcId="{3BAA09DD-30B2-4B9E-9302-15305C0C85D4}" destId="{BA105A8D-0A4E-4897-A763-AF8B2F007475}" srcOrd="0" destOrd="0" presId="urn:microsoft.com/office/officeart/2008/layout/VerticalCurvedList"/>
    <dgm:cxn modelId="{DEFC952C-63CF-41CE-954C-52636D988334}" type="presParOf" srcId="{BA105A8D-0A4E-4897-A763-AF8B2F007475}" destId="{4A0FE408-2A96-4729-9ACE-302C0595B601}" srcOrd="0" destOrd="0" presId="urn:microsoft.com/office/officeart/2008/layout/VerticalCurvedList"/>
    <dgm:cxn modelId="{601769B1-E318-4DE2-BDC9-B95C6D5B6209}" type="presParOf" srcId="{4A0FE408-2A96-4729-9ACE-302C0595B601}" destId="{47AC7A90-F4EF-473A-9B72-A066B998FF65}" srcOrd="0" destOrd="0" presId="urn:microsoft.com/office/officeart/2008/layout/VerticalCurvedList"/>
    <dgm:cxn modelId="{42EA2364-3177-4BE8-8BF1-A8DBED5EC4F3}" type="presParOf" srcId="{4A0FE408-2A96-4729-9ACE-302C0595B601}" destId="{49A458BA-1581-4CF5-A72E-4B3961822CFE}" srcOrd="1" destOrd="0" presId="urn:microsoft.com/office/officeart/2008/layout/VerticalCurvedList"/>
    <dgm:cxn modelId="{0B758FDD-BC55-42C5-B86B-1B4C35358D8B}" type="presParOf" srcId="{4A0FE408-2A96-4729-9ACE-302C0595B601}" destId="{D60B17E7-B0FB-4EF1-8FBA-D8A5B9E6D6C8}" srcOrd="2" destOrd="0" presId="urn:microsoft.com/office/officeart/2008/layout/VerticalCurvedList"/>
    <dgm:cxn modelId="{6F4F6EF6-DD20-4E8F-9031-A511F4F61158}" type="presParOf" srcId="{4A0FE408-2A96-4729-9ACE-302C0595B601}" destId="{647DEC07-8C7F-4DD1-B7BB-2E4EA4D6AE15}" srcOrd="3" destOrd="0" presId="urn:microsoft.com/office/officeart/2008/layout/VerticalCurvedList"/>
    <dgm:cxn modelId="{FBD172F6-90A2-401C-837A-CC4C30D7F1B0}" type="presParOf" srcId="{BA105A8D-0A4E-4897-A763-AF8B2F007475}" destId="{D29BD20B-04F5-4508-BF4D-D32C9210A444}" srcOrd="1" destOrd="0" presId="urn:microsoft.com/office/officeart/2008/layout/VerticalCurvedList"/>
    <dgm:cxn modelId="{239D5325-9624-4981-B655-DB42DB973B32}" type="presParOf" srcId="{BA105A8D-0A4E-4897-A763-AF8B2F007475}" destId="{4685B3DC-F00D-47B4-A72B-F8064D80B0BE}" srcOrd="2" destOrd="0" presId="urn:microsoft.com/office/officeart/2008/layout/VerticalCurvedList"/>
    <dgm:cxn modelId="{7EFED9BA-4F27-4AC6-97F8-6980E91D7DBD}" type="presParOf" srcId="{4685B3DC-F00D-47B4-A72B-F8064D80B0BE}" destId="{4300FAB7-8253-4D28-8AC0-D77DD6B21174}" srcOrd="0" destOrd="0" presId="urn:microsoft.com/office/officeart/2008/layout/VerticalCurvedList"/>
    <dgm:cxn modelId="{1791ECE0-94BD-4D89-B2D0-E1B694909554}" type="presParOf" srcId="{BA105A8D-0A4E-4897-A763-AF8B2F007475}" destId="{67635D30-3604-4AD3-AED5-BA7E45D4F45F}" srcOrd="3" destOrd="0" presId="urn:microsoft.com/office/officeart/2008/layout/VerticalCurvedList"/>
    <dgm:cxn modelId="{EA9A238E-6EE2-4819-914D-9677D9F1202E}" type="presParOf" srcId="{BA105A8D-0A4E-4897-A763-AF8B2F007475}" destId="{0E59C379-67D6-425B-AB85-53321A8F5B1F}" srcOrd="4" destOrd="0" presId="urn:microsoft.com/office/officeart/2008/layout/VerticalCurvedList"/>
    <dgm:cxn modelId="{033CE32E-293C-48A8-918C-FEDB3B625783}" type="presParOf" srcId="{0E59C379-67D6-425B-AB85-53321A8F5B1F}" destId="{514DC910-8D20-4EEC-A179-828469C0ED5A}" srcOrd="0" destOrd="0" presId="urn:microsoft.com/office/officeart/2008/layout/VerticalCurvedList"/>
    <dgm:cxn modelId="{5355F780-F5BA-4A83-87FF-3E56208F1042}" type="presParOf" srcId="{BA105A8D-0A4E-4897-A763-AF8B2F007475}" destId="{C0B443C8-EC88-4340-90F0-6324B61CD14B}" srcOrd="5" destOrd="0" presId="urn:microsoft.com/office/officeart/2008/layout/VerticalCurvedList"/>
    <dgm:cxn modelId="{375DF711-56A2-4370-AF15-65A6EDE39B9A}" type="presParOf" srcId="{BA105A8D-0A4E-4897-A763-AF8B2F007475}" destId="{3E0F0666-1459-4859-AFB9-6B04F0680FDA}" srcOrd="6" destOrd="0" presId="urn:microsoft.com/office/officeart/2008/layout/VerticalCurvedList"/>
    <dgm:cxn modelId="{C7F37493-C894-48F9-9C3D-BCC3C11C8C30}" type="presParOf" srcId="{3E0F0666-1459-4859-AFB9-6B04F0680FDA}" destId="{0B79C04E-E8CB-4C13-82F5-42AEB9932B51}" srcOrd="0" destOrd="0" presId="urn:microsoft.com/office/officeart/2008/layout/VerticalCurvedList"/>
    <dgm:cxn modelId="{07371081-3AFF-4BDA-B0F3-A9DCAB48B06E}" type="presParOf" srcId="{BA105A8D-0A4E-4897-A763-AF8B2F007475}" destId="{9D6CC719-FEF2-42B9-B658-5060F7F971C0}" srcOrd="7" destOrd="0" presId="urn:microsoft.com/office/officeart/2008/layout/VerticalCurvedList"/>
    <dgm:cxn modelId="{A5974B07-C373-48B4-A261-647D2D93124F}" type="presParOf" srcId="{BA105A8D-0A4E-4897-A763-AF8B2F007475}" destId="{EF0874D6-9ECD-44C7-916E-78D50D129CC0}" srcOrd="8" destOrd="0" presId="urn:microsoft.com/office/officeart/2008/layout/VerticalCurvedList"/>
    <dgm:cxn modelId="{C3F4BCB6-7E44-4A22-9375-8FC164B077C4}" type="presParOf" srcId="{EF0874D6-9ECD-44C7-916E-78D50D129CC0}" destId="{3CDBC534-7EB5-4BCE-A156-BE27FABC13B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458BA-1581-4CF5-A72E-4B3961822CFE}">
      <dsp:nvSpPr>
        <dsp:cNvPr id="0" name=""/>
        <dsp:cNvSpPr/>
      </dsp:nvSpPr>
      <dsp:spPr>
        <a:xfrm>
          <a:off x="-6073946" y="-929348"/>
          <a:ext cx="7230487" cy="7230487"/>
        </a:xfrm>
        <a:prstGeom prst="blockArc">
          <a:avLst>
            <a:gd name="adj1" fmla="val 18900000"/>
            <a:gd name="adj2" fmla="val 2700000"/>
            <a:gd name="adj3" fmla="val 29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BD20B-04F5-4508-BF4D-D32C9210A444}">
      <dsp:nvSpPr>
        <dsp:cNvPr id="0" name=""/>
        <dsp:cNvSpPr/>
      </dsp:nvSpPr>
      <dsp:spPr>
        <a:xfrm>
          <a:off x="605301" y="412983"/>
          <a:ext cx="5833956" cy="826396"/>
        </a:xfrm>
        <a:prstGeom prst="rect">
          <a:avLst/>
        </a:prstGeom>
        <a:solidFill>
          <a:srgbClr val="05859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59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900" b="1" kern="1200">
              <a:latin typeface="Lora"/>
            </a:rPr>
            <a:t>Introduction</a:t>
          </a:r>
          <a:endParaRPr lang="fr-FR" sz="3900" kern="1200">
            <a:latin typeface="Lora"/>
          </a:endParaRPr>
        </a:p>
      </dsp:txBody>
      <dsp:txXfrm>
        <a:off x="605301" y="412983"/>
        <a:ext cx="5833956" cy="826396"/>
      </dsp:txXfrm>
    </dsp:sp>
    <dsp:sp modelId="{4300FAB7-8253-4D28-8AC0-D77DD6B21174}">
      <dsp:nvSpPr>
        <dsp:cNvPr id="0" name=""/>
        <dsp:cNvSpPr/>
      </dsp:nvSpPr>
      <dsp:spPr>
        <a:xfrm>
          <a:off x="88803" y="309683"/>
          <a:ext cx="1032995" cy="10329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35D30-3604-4AD3-AED5-BA7E45D4F45F}">
      <dsp:nvSpPr>
        <dsp:cNvPr id="0" name=""/>
        <dsp:cNvSpPr/>
      </dsp:nvSpPr>
      <dsp:spPr>
        <a:xfrm>
          <a:off x="1079093" y="1652792"/>
          <a:ext cx="5360164" cy="826396"/>
        </a:xfrm>
        <a:prstGeom prst="rect">
          <a:avLst/>
        </a:prstGeom>
        <a:solidFill>
          <a:srgbClr val="05859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59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900" b="1" kern="1200">
              <a:latin typeface="Lora" pitchFamily="2" charset="0"/>
            </a:rPr>
            <a:t>Nuclear Imaging</a:t>
          </a:r>
          <a:endParaRPr lang="fr-FR" sz="3900" kern="1200"/>
        </a:p>
      </dsp:txBody>
      <dsp:txXfrm>
        <a:off x="1079093" y="1652792"/>
        <a:ext cx="5360164" cy="826396"/>
      </dsp:txXfrm>
    </dsp:sp>
    <dsp:sp modelId="{514DC910-8D20-4EEC-A179-828469C0ED5A}">
      <dsp:nvSpPr>
        <dsp:cNvPr id="0" name=""/>
        <dsp:cNvSpPr/>
      </dsp:nvSpPr>
      <dsp:spPr>
        <a:xfrm>
          <a:off x="562595" y="1549493"/>
          <a:ext cx="1032995" cy="10329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443C8-EC88-4340-90F0-6324B61CD14B}">
      <dsp:nvSpPr>
        <dsp:cNvPr id="0" name=""/>
        <dsp:cNvSpPr/>
      </dsp:nvSpPr>
      <dsp:spPr>
        <a:xfrm>
          <a:off x="1079093" y="2892602"/>
          <a:ext cx="5360164" cy="826396"/>
        </a:xfrm>
        <a:prstGeom prst="rect">
          <a:avLst/>
        </a:prstGeom>
        <a:solidFill>
          <a:srgbClr val="05859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59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>
              <a:latin typeface="Lora" pitchFamily="2" charset="0"/>
            </a:rPr>
            <a:t>Nuclear Therapy</a:t>
          </a:r>
        </a:p>
      </dsp:txBody>
      <dsp:txXfrm>
        <a:off x="1079093" y="2892602"/>
        <a:ext cx="5360164" cy="826396"/>
      </dsp:txXfrm>
    </dsp:sp>
    <dsp:sp modelId="{0B79C04E-E8CB-4C13-82F5-42AEB9932B51}">
      <dsp:nvSpPr>
        <dsp:cNvPr id="0" name=""/>
        <dsp:cNvSpPr/>
      </dsp:nvSpPr>
      <dsp:spPr>
        <a:xfrm>
          <a:off x="562595" y="2789302"/>
          <a:ext cx="1032995" cy="10329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CC719-FEF2-42B9-B658-5060F7F971C0}">
      <dsp:nvSpPr>
        <dsp:cNvPr id="0" name=""/>
        <dsp:cNvSpPr/>
      </dsp:nvSpPr>
      <dsp:spPr>
        <a:xfrm>
          <a:off x="605301" y="4132411"/>
          <a:ext cx="5833956" cy="826396"/>
        </a:xfrm>
        <a:prstGeom prst="rect">
          <a:avLst/>
        </a:prstGeom>
        <a:solidFill>
          <a:srgbClr val="05859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5952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900" b="1" kern="1200">
              <a:latin typeface="Lora" pitchFamily="2" charset="0"/>
            </a:rPr>
            <a:t>Current Challenges</a:t>
          </a:r>
        </a:p>
      </dsp:txBody>
      <dsp:txXfrm>
        <a:off x="605301" y="4132411"/>
        <a:ext cx="5833956" cy="826396"/>
      </dsp:txXfrm>
    </dsp:sp>
    <dsp:sp modelId="{3CDBC534-7EB5-4BCE-A156-BE27FABC13B4}">
      <dsp:nvSpPr>
        <dsp:cNvPr id="0" name=""/>
        <dsp:cNvSpPr/>
      </dsp:nvSpPr>
      <dsp:spPr>
        <a:xfrm>
          <a:off x="88803" y="4029111"/>
          <a:ext cx="1032995" cy="10329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40:37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2:03:52.25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277 173,'-60'1,"0"3,-96 20,313-43,-35 7,76-7,219 7,-408 13,-1 0,1 0,-1 1,0 0,1 0,-1 1,0 0,-1 0,1 1,0 0,-1 0,9 7,7 7,-1 2,23 25,-42-42,4 5,1 0,-1 1,-1 0,1 0,-2 1,1-1,-1 1,-1 1,0-1,0 0,-1 1,0 0,-1 0,1 18,-2-7,-2 0,-1 0,-1 0,-1 0,0-1,-12 32,0-7,-2-2,-3 0,-1-1,-1-1,-36 46,13-26,-4-3,-84 79,111-117,0-2,-2 0,0-1,-1-2,-34 16,47-25,0-2,-1 1,0-2,0 0,0-1,-1 0,1-1,-1-1,1 0,-1-1,1 0,-1-1,-16-4,22 2,-1 0,0-1,1 0,-1-1,1 0,1 0,-1-1,1 0,0-1,0 0,1 0,-1 0,2-1,-11-15,0-3,2-1,0 0,-17-48,17 32,2-1,1 0,3-1,-5-65,9 42,4 0,9-89,-1 101,3 1,2 0,3 0,1 1,4 1,40-80,-39 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2:03:52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809 1008 24575,'-16'-1'0,"0"-1"0,0-1 0,0 0 0,-29-9 0,6 0 0,-23-3 0,-160-50 0,199 57 0,1-2 0,0 0 0,1-2 0,0 0 0,0-1 0,1-1 0,-23-23 0,36 31 0,0-1 0,1 0 0,0-1 0,0 1 0,1-1 0,0 0 0,1-1 0,-1 1 0,2-1 0,-1 0 0,1 0 0,0 0 0,1 0 0,0-1 0,1 1 0,0 0 0,0-1 0,1 0 0,0 1 0,1-1 0,0 1 0,0 0 0,1-1 0,0 1 0,1 0 0,0 0 0,0 0 0,1 0 0,0 1 0,1-1 0,0 1 0,12-15 0,6-5 0,2 0 0,1 2 0,1 0 0,1 2 0,2 1 0,46-28 0,14-1 0,99-41 0,-126 65 0,1 2 0,102-26 0,-141 46 0,0 1 0,1 1 0,-1 1 0,1 1 0,0 2 0,-1 0 0,1 2 0,0 1 0,48 12 0,-62-12 0,0 2 0,-1 0 0,0 0 0,0 1 0,-1 0 0,0 1 0,0 0 0,0 0 0,15 17 0,-12-10 0,-2 0 0,0 0 0,-1 1 0,-1 0 0,0 1 0,8 18 0,-4 1 0,-1 1 0,-2 0 0,-2 0 0,-1 1 0,5 72 0,-11-43 0,-2 1 0,-3-1 0,-3 1 0,-24 96 0,9-76 0,-5-1 0,-68 151 0,75-196 0,-1-1 0,-36 50 0,48-77 0,-1 0 0,-1-1 0,0 0 0,-1 0 0,0-1 0,-1-1 0,0 0 0,0-1 0,-28 15 0,24-17 0,0 0 0,-1-1 0,0-1 0,1-1 0,-1 0 0,-1-1 0,-17 0 0,29-2 0,0-1 0,0 0 0,0-1 0,0 0 0,1 0 0,-1 0 0,0-1 0,1 0 0,-1 0 0,1-1 0,0 0 0,0 0 0,0 0 0,0-1 0,0 0 0,1 0 0,0 0 0,-1-1 0,2 0 0,-1 0 0,-7-10 0,4 3 0,2 0 0,0-1 0,0 1 0,2-1 0,-1 0 0,1 0 0,1 0 0,-2-17 0,1-14 0,1-53 0,6 28 0,2 0 0,3 1 0,23-88 0,70-197 0,-66 254 0,61-119 0,-93 213 0,4-17 0,-9 23 0,1-1 0,0 1 0,-1 0 0,1 0 0,0 0 0,0 0 0,0 0 0,0 0 0,0 0 0,0 0 0,0 0 0,0 0 0,0 1 0,-1 1 0,-40 47 0,-2-1 0,-80 67 0,-115 70 0,88-84 0,131-90 0,-1-1 0,-1 0 0,0-2 0,-1-1 0,-32 8 0,53-15 0,0 0 0,0 0 0,-1-1 0,1 0 0,0 1 0,-1-1 0,1 0 0,0 0 0,-1 0 0,1 0 0,-1 0 0,1-1 0,0 1 0,0-1 0,-1 1 0,1-1 0,0 0 0,0 0 0,0 0 0,0 0 0,0-1 0,0 1 0,0 0 0,0-1 0,0 1 0,-2-4 0,3 2 0,0 0 0,0-1 0,0 1 0,0-1 0,0 1 0,1-1 0,0 1 0,0-1 0,0 1 0,0-1 0,0 1 0,1-1 0,-1 0 0,1 1 0,0 0 0,0-1 0,0 1 0,3-5 0,7-19 0,2 1 0,1 0 0,1 1 0,20-27 0,83-93 0,-23 42 0,147-126 0,-229 217 0,1 1 0,0 0 0,0 1 0,32-16 0,-45 25 0,0 1 0,1-1 0,-1 0 0,1 1 0,-1-1 0,1 1 0,-1 0 0,1-1 0,-1 1 0,1 0 0,-1 0 0,1 0 0,0 0 0,-1 0 0,1 0 0,-1 1 0,1-1 0,-1 0 0,1 1 0,-1-1 0,1 1 0,-1 0 0,0-1 0,1 1 0,-1 0 0,0 0 0,1 0 0,-1 0 0,0 0 0,0 0 0,2 2 0,-1 1 0,0 1 0,0-1 0,0 1 0,0-1 0,-1 1 0,0 0 0,0-1 0,0 1 0,0 0 0,-1 6 0,1 20 0,-1 0 0,-2 1 0,-1-1 0,-12 48 0,-42 122 0,49-178 0,-59 167-549,-8-3 0,-8-3 0,-8-4 0,-184 270 0,259-426 556,-76 103 283,77-108-160,-2-1 1,0 0-1,-1-1 1,-22 16 0,39-32-61,0 0 0,0-1-1,0 1 1,0 0 0,0 0 0,0 0 0,0-1 0,-1 1 0,1-1 0,0 1 0,0-1 0,-1 1 0,1-1-1,0 0 1,-3 1 0,4-3-27,0 0-1,1 1 0,-1-1 0,0 0 1,1 1-1,-1-1 0,1 1 1,-1-1-1,1 1 0,0-1 1,0 1-1,0-1 0,0 1 1,0-1-1,2-1 0,123-184-42,359-504-864,-63 94 187,-587 865 1283,-70 99 329,184-298-935,-88 108 0,138-176 0,-1 0 0,1 0 0,0 0 0,0 0 0,0 0 0,0 0 0,0 1 0,0-1 0,0 0 0,0 0 0,1 1 0,-1-1 0,0 1 0,1-1 0,-1 1 0,1-1 0,0 1 0,-1-1 0,1 1 0,0 2 0,1-3 0,0 0 0,0-1 0,-1 1 0,1-1 0,0 0 0,0 1 0,0-1 0,0 0 0,0 1 0,0-1 0,0 0 0,0 0 0,0 0 0,0 0 0,0 0 0,0 0 0,0 0 0,0 0 0,0 0 0,0 0 0,0-1 0,2 1 0,15-5 0,0 0 0,17-8 0,-4 0-195,0 1 0,1 2 0,1 1 0,-1 2 0,1 1 0,55-3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92197-5F4B-4CBF-A941-CE41E44ED5E8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D2F26-945D-4BFF-AF29-25A027213E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94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F186B-2083-420C-487E-47DB23B1C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87E6F6-1F1C-73F2-F9C7-45BB20345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45B8F8-C582-076E-828D-BFA19064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3192F-CA72-723D-60CF-F4DB462B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08D5AB-B3DE-C7EC-8D85-19F295F4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2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A4B0A-6FA0-D1DB-9F18-63F054FD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FD26BA-45D4-4476-7D3B-5B799EE97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86357E-8155-D9EB-A4AD-4CCB2F06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A7DCA-3BAE-F221-3565-8D76BAA5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83793B-9C87-1050-04F3-A1468457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2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1F365-1D24-D48C-07C2-D56898674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FA96E2-0F68-A5C9-A30A-F78F57496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F235FC-11E8-E2A9-873D-F604160F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B32B98-3EC2-B67D-0781-707B471C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325D13-1522-2891-F7C0-6E9D70C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77F18-647F-F225-41AF-59B7D5F6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4FF3CE-6510-9FC5-1799-3EA8F5AD4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DADCE6-5EE6-721C-7833-CEB36A7BA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820E6F-BC20-BFD8-FB33-70E08BAD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F813AE-B27C-5427-37DC-E4ECAE92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312838-AE69-FF07-2955-6228293D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B2A09-BB56-43CB-D645-9C3A590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C30440-7665-502B-4D2A-8EB7193A8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59FE92-31D3-310F-E6AC-EDB71CF48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DC3751-93D4-4960-0D7C-6371CAA61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4E2A25-3BA0-29A1-5E96-5736647BA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C8D06ED-FED1-38D1-A235-157B5FAD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4B16A1E-4142-F866-1FA0-2B2351E0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7869E3-9DD9-0681-6A2B-CDEBF706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2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85CEC-8EED-7487-4E5B-331287D3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FCF6FE-BCDD-3E87-1E9D-E0A17C5F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1C6AB9-5AFA-F3CA-8755-6725A284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BDF079-8256-A274-7A0B-0D158E83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9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9F69BDA-D903-2F13-8496-0C4F806A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6481F0-3B01-ED92-50FE-9867FB52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1EB290-0BBE-DCBB-B637-5A41E290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0F0B5-321A-183E-5A02-9E9CC185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3E05B7-5716-3A50-AFB7-23DCAFD17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4D5028-E9C7-1FC4-A93C-6664F4AFE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A70D1E-CDD8-44AE-18EE-82D8CE10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29C4D6-C235-7B5F-6137-38CB993D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921077-B1FB-24CD-3C5C-B047246B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1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FFB440-2029-B1D7-2506-45F1F44A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0E8F2E-98D9-F08A-2DCD-54FA7DDAB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B8230D-FE08-B17E-78B7-655217995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D16E94-5350-56D1-5FE5-41A78CC1F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EBA0F0-F78B-D065-12B7-E26F551A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D9E37D-ECFB-5B75-B779-A6971E25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8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04A599-1795-7769-1482-0B8DF34F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CF4A2D-63B4-0F6C-4F9D-087E474B5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93D371-7CB7-6E37-7147-B98AA144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AD3EE9-913E-1C24-7E23-8138DCEA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2319BF-2D9B-3DEB-5CFE-822BC8F8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0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3F5D5C-1A74-02CC-A1B5-766C6F94E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43CAE3-4129-7C8F-2CCD-4C3AC8244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09FD68-8D40-AFFC-8CE3-ED4544EE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A74703-7353-DC3F-3758-82617EA4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705952-9F89-E469-2148-FCFCF602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2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955BB5-1D20-F3E8-6630-B6766BB7A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B5850E-F7FD-5F7F-30C0-53A85121C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D3FC39-71EA-40E9-3BEF-EE633EF60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88170-F4C4-47E6-A942-E9094D9D0E4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37708E-779B-F196-0C7F-5A0F796A0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415341-BBAB-833F-B95D-3EFF73421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32DFB-8BDB-41D8-87F4-38F217FBD2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6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326E2DE-F368-E54D-440D-024E06BD2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46240-48B5-1378-4BB3-A68925EA04FE}"/>
              </a:ext>
            </a:extLst>
          </p:cNvPr>
          <p:cNvSpPr/>
          <p:nvPr/>
        </p:nvSpPr>
        <p:spPr>
          <a:xfrm>
            <a:off x="0" y="6430314"/>
            <a:ext cx="6096000" cy="427686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Lora" pitchFamily="2" charset="0"/>
                <a:ea typeface="Poppins"/>
                <a:cs typeface="Poppins"/>
                <a:sym typeface="Poppins"/>
              </a:rPr>
              <a:t>Université Mohammed VI Polytechnique</a:t>
            </a:r>
            <a:endParaRPr lang="en-US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D52F98-5FEE-CD38-E81D-AA42C245EEC2}"/>
              </a:ext>
            </a:extLst>
          </p:cNvPr>
          <p:cNvSpPr/>
          <p:nvPr/>
        </p:nvSpPr>
        <p:spPr>
          <a:xfrm>
            <a:off x="6096000" y="6430314"/>
            <a:ext cx="6096000" cy="42768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Lora" pitchFamily="2" charset="0"/>
                <a:ea typeface="Poppins"/>
                <a:cs typeface="Poppins"/>
                <a:sym typeface="Poppins"/>
              </a:rPr>
              <a:t>School of applied and engineering physics.</a:t>
            </a:r>
            <a:endParaRPr lang="en-US" b="1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02060CF-CC32-6AF5-A10F-62C08476FB5F}"/>
              </a:ext>
            </a:extLst>
          </p:cNvPr>
          <p:cNvSpPr txBox="1"/>
          <p:nvPr/>
        </p:nvSpPr>
        <p:spPr>
          <a:xfrm>
            <a:off x="6017342" y="52725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Lora" pitchFamily="2" charset="0"/>
                <a:ea typeface="Poppins"/>
                <a:cs typeface="Poppins"/>
                <a:sym typeface="Poppins"/>
              </a:rPr>
              <a:t>S</a:t>
            </a:r>
            <a:r>
              <a:rPr lang="en-US" sz="1800">
                <a:solidFill>
                  <a:schemeClr val="bg1"/>
                </a:solidFill>
                <a:latin typeface="Lora" pitchFamily="2" charset="0"/>
                <a:ea typeface="Poppins"/>
                <a:cs typeface="Poppins"/>
                <a:sym typeface="Poppins"/>
              </a:rPr>
              <a:t>chool of applied and engineering physics.</a:t>
            </a:r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04FA93D-F5A9-B9CE-483D-E8C9C671B799}"/>
              </a:ext>
            </a:extLst>
          </p:cNvPr>
          <p:cNvSpPr txBox="1"/>
          <p:nvPr/>
        </p:nvSpPr>
        <p:spPr>
          <a:xfrm>
            <a:off x="669766" y="3957229"/>
            <a:ext cx="3313725" cy="1358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fr-FR" i="1">
                <a:latin typeface="Lora"/>
              </a:rPr>
              <a:t>                         </a:t>
            </a:r>
            <a:endParaRPr lang="en-US" b="1" i="1" u="sng">
              <a:latin typeface="Sitka Display"/>
              <a:ea typeface="Glacial Indifference Italics"/>
              <a:cs typeface="Glacial Indifference Italics"/>
            </a:endParaRPr>
          </a:p>
          <a:p>
            <a:pPr marL="285750" indent="-28575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b="1" i="1" u="sng">
                <a:latin typeface="Sitka Display"/>
                <a:ea typeface="Glacial Indifference Italics"/>
                <a:cs typeface="Glacial Indifference Italics"/>
                <a:sym typeface="Glacial Indifference Italics"/>
              </a:rPr>
              <a:t>Ibtissam </a:t>
            </a:r>
            <a:r>
              <a:rPr lang="en-US" b="1" i="1" u="sng" err="1">
                <a:latin typeface="Sitka Display"/>
                <a:ea typeface="Glacial Indifference Italics"/>
                <a:cs typeface="Glacial Indifference Italics"/>
                <a:sym typeface="Glacial Indifference Italics"/>
              </a:rPr>
              <a:t>Ait</a:t>
            </a:r>
            <a:r>
              <a:rPr lang="en-US" b="1" i="1" u="sng">
                <a:latin typeface="Sitka Display"/>
                <a:ea typeface="Glacial Indifference Italics"/>
                <a:cs typeface="Glacial Indifference Italics"/>
                <a:sym typeface="Glacial Indifference Italics"/>
              </a:rPr>
              <a:t> Haddou</a:t>
            </a:r>
            <a:endParaRPr lang="en-US" b="1" i="1" u="sng">
              <a:latin typeface="Sitka Display"/>
              <a:ea typeface="Glacial Indifference Italics"/>
              <a:cs typeface="Glacial Indifference Italics"/>
            </a:endParaRPr>
          </a:p>
          <a:p>
            <a:pPr marL="285750" indent="-28575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b="1" i="1" u="sng">
                <a:latin typeface="Sitka Display"/>
                <a:ea typeface="Glacial Indifference Italics"/>
                <a:cs typeface="Glacial Indifference Italics"/>
              </a:rPr>
              <a:t>Khawla NAJMI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AC73FA4-078A-0904-677A-470F0E7204B5}"/>
              </a:ext>
            </a:extLst>
          </p:cNvPr>
          <p:cNvSpPr txBox="1"/>
          <p:nvPr/>
        </p:nvSpPr>
        <p:spPr>
          <a:xfrm>
            <a:off x="2910349" y="5846877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May 11, 2026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6A8EC21-1725-E5AE-528C-33AD5B7F15E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50980" y="3791408"/>
            <a:ext cx="4021405" cy="268093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936F477-0AF6-59EE-A841-9637F279B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16350"/>
            <a:ext cx="7389349" cy="121818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9E4332D-384E-22DD-2DAD-0E9D9E8C9483}"/>
              </a:ext>
            </a:extLst>
          </p:cNvPr>
          <p:cNvSpPr txBox="1"/>
          <p:nvPr/>
        </p:nvSpPr>
        <p:spPr>
          <a:xfrm>
            <a:off x="7008249" y="3774239"/>
            <a:ext cx="6134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err="1">
                <a:solidFill>
                  <a:srgbClr val="058593"/>
                </a:solidFill>
                <a:latin typeface="Lora"/>
              </a:rPr>
              <a:t>Supervised</a:t>
            </a:r>
            <a:r>
              <a:rPr lang="fr-FR" b="1" i="1">
                <a:solidFill>
                  <a:srgbClr val="058593"/>
                </a:solidFill>
                <a:latin typeface="Lora"/>
              </a:rPr>
              <a:t> by</a:t>
            </a:r>
            <a:r>
              <a:rPr lang="fr-FR" i="1">
                <a:latin typeface="Lora"/>
              </a:rPr>
              <a:t>:</a:t>
            </a:r>
            <a:r>
              <a:rPr lang="fr-FR" b="1" i="1">
                <a:latin typeface="Lora"/>
              </a:rPr>
              <a:t> Prof. Hicham Atmani</a:t>
            </a:r>
            <a:endParaRPr 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3FC3D41-12A1-4440-21C5-DE7AD5E7F807}"/>
              </a:ext>
            </a:extLst>
          </p:cNvPr>
          <p:cNvSpPr/>
          <p:nvPr/>
        </p:nvSpPr>
        <p:spPr>
          <a:xfrm>
            <a:off x="1018079" y="1705940"/>
            <a:ext cx="10434818" cy="1672087"/>
          </a:xfrm>
          <a:prstGeom prst="roundRect">
            <a:avLst/>
          </a:prstGeom>
          <a:solidFill>
            <a:srgbClr val="097C8F"/>
          </a:solidFill>
          <a:ln>
            <a:solidFill>
              <a:srgbClr val="0585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DC3437C-DBFA-9C85-6884-C65F1B682F9A}"/>
              </a:ext>
            </a:extLst>
          </p:cNvPr>
          <p:cNvSpPr txBox="1"/>
          <p:nvPr/>
        </p:nvSpPr>
        <p:spPr>
          <a:xfrm>
            <a:off x="952178" y="1983119"/>
            <a:ext cx="10500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err="1">
                <a:solidFill>
                  <a:schemeClr val="bg1"/>
                </a:solidFill>
                <a:latin typeface="Lora"/>
              </a:rPr>
              <a:t>Nuclear</a:t>
            </a:r>
            <a:r>
              <a:rPr lang="fr-FR" sz="4000" b="1">
                <a:solidFill>
                  <a:schemeClr val="bg1"/>
                </a:solidFill>
                <a:latin typeface="Lora"/>
              </a:rPr>
              <a:t> </a:t>
            </a:r>
            <a:r>
              <a:rPr lang="fr-FR" sz="4000" b="1" err="1">
                <a:solidFill>
                  <a:schemeClr val="bg1"/>
                </a:solidFill>
                <a:latin typeface="Lora"/>
              </a:rPr>
              <a:t>Physics</a:t>
            </a:r>
            <a:r>
              <a:rPr lang="fr-FR" sz="4000" b="1">
                <a:solidFill>
                  <a:schemeClr val="bg1"/>
                </a:solidFill>
                <a:latin typeface="Lora"/>
              </a:rPr>
              <a:t> Applications in Medicine</a:t>
            </a:r>
            <a:endParaRPr lang="en-US" sz="4000" b="1">
              <a:solidFill>
                <a:schemeClr val="bg1"/>
              </a:solidFill>
              <a:latin typeface="Lora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32E8EE7-D63C-2772-C1AD-ADE6256F321A}"/>
              </a:ext>
            </a:extLst>
          </p:cNvPr>
          <p:cNvSpPr txBox="1"/>
          <p:nvPr/>
        </p:nvSpPr>
        <p:spPr>
          <a:xfrm>
            <a:off x="3028709" y="2712454"/>
            <a:ext cx="6134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err="1">
                <a:solidFill>
                  <a:schemeClr val="bg1"/>
                </a:solidFill>
                <a:latin typeface="Lora" pitchFamily="2" charset="0"/>
              </a:rPr>
              <a:t>Physics</a:t>
            </a:r>
            <a:r>
              <a:rPr lang="fr-FR" sz="2000">
                <a:solidFill>
                  <a:schemeClr val="bg1"/>
                </a:solidFill>
                <a:latin typeface="Lora" pitchFamily="2" charset="0"/>
              </a:rPr>
              <a:t> </a:t>
            </a:r>
            <a:r>
              <a:rPr lang="fr-FR" sz="2000" err="1">
                <a:solidFill>
                  <a:schemeClr val="bg1"/>
                </a:solidFill>
                <a:latin typeface="Lora" pitchFamily="2" charset="0"/>
              </a:rPr>
              <a:t>Foundations</a:t>
            </a:r>
            <a:r>
              <a:rPr lang="fr-FR" sz="2000">
                <a:solidFill>
                  <a:schemeClr val="bg1"/>
                </a:solidFill>
                <a:latin typeface="Lora" pitchFamily="2" charset="0"/>
              </a:rPr>
              <a:t> &amp; </a:t>
            </a:r>
            <a:r>
              <a:rPr lang="fr-FR" sz="2000" err="1">
                <a:solidFill>
                  <a:schemeClr val="bg1"/>
                </a:solidFill>
                <a:latin typeface="Lora" pitchFamily="2" charset="0"/>
              </a:rPr>
              <a:t>Technological</a:t>
            </a:r>
            <a:r>
              <a:rPr lang="fr-FR" sz="2000">
                <a:solidFill>
                  <a:schemeClr val="bg1"/>
                </a:solidFill>
                <a:latin typeface="Lora" pitchFamily="2" charset="0"/>
              </a:rPr>
              <a:t> Challenges</a:t>
            </a:r>
            <a:endParaRPr lang="en-US" sz="2000">
              <a:solidFill>
                <a:schemeClr val="bg1"/>
              </a:solidFill>
              <a:latin typeface="Lora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D77DBC3-EF64-19CB-E445-F40BDA36D967}"/>
              </a:ext>
            </a:extLst>
          </p:cNvPr>
          <p:cNvSpPr txBox="1"/>
          <p:nvPr/>
        </p:nvSpPr>
        <p:spPr>
          <a:xfrm>
            <a:off x="3340789" y="4324496"/>
            <a:ext cx="6765402" cy="92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b="1" i="1" u="sng">
                <a:latin typeface="Sitka Display" pitchFamily="2" charset="0"/>
                <a:ea typeface="Glacial Indifference Italics"/>
                <a:cs typeface="Glacial Indifference Italics"/>
                <a:sym typeface="Glacial Indifference Italics"/>
              </a:rPr>
              <a:t>Marime Charafi </a:t>
            </a:r>
            <a:endParaRPr lang="en-US" b="1" i="1" u="sng">
              <a:latin typeface="Sitka Display" pitchFamily="2" charset="0"/>
              <a:ea typeface="Glacial Indifference Italics"/>
              <a:cs typeface="Glacial Indifference Italics"/>
            </a:endParaRPr>
          </a:p>
          <a:p>
            <a:pPr marL="285750" indent="-28575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fr-FR" b="1" i="1" u="sng">
                <a:latin typeface="Sitka Display" pitchFamily="2" charset="0"/>
              </a:rPr>
              <a:t>Korotimi Syla Sangare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A4D2E97-A7FE-A376-C5F7-4609BA301BEA}"/>
              </a:ext>
            </a:extLst>
          </p:cNvPr>
          <p:cNvSpPr txBox="1"/>
          <p:nvPr/>
        </p:nvSpPr>
        <p:spPr>
          <a:xfrm>
            <a:off x="1947858" y="3734312"/>
            <a:ext cx="6765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err="1">
                <a:solidFill>
                  <a:srgbClr val="058593"/>
                </a:solidFill>
                <a:latin typeface="Lora"/>
              </a:rPr>
              <a:t>Realized</a:t>
            </a:r>
            <a:r>
              <a:rPr lang="fr-FR" b="1" i="1">
                <a:solidFill>
                  <a:srgbClr val="058593"/>
                </a:solidFill>
                <a:latin typeface="Lora"/>
              </a:rPr>
              <a:t> by 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9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6DFE-6760-49CA-DE29-77219578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14442DE-162E-4C1A-89F3-40B4D2DBB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F89FD-C78C-06BD-1AC0-A8901E01603D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err="1">
                <a:latin typeface="Lora"/>
              </a:rPr>
              <a:t>Nuclear</a:t>
            </a:r>
            <a:r>
              <a:rPr lang="fr-FR" b="1">
                <a:latin typeface="Lora"/>
              </a:rPr>
              <a:t> </a:t>
            </a:r>
            <a:r>
              <a:rPr lang="fr-FR" b="1" err="1">
                <a:latin typeface="Lora"/>
              </a:rPr>
              <a:t>Physics</a:t>
            </a:r>
            <a:r>
              <a:rPr lang="fr-FR" b="1">
                <a:latin typeface="Lora"/>
              </a:rPr>
              <a:t> Applications in </a:t>
            </a:r>
            <a:r>
              <a:rPr lang="fr-FR" b="1" err="1">
                <a:latin typeface="Lora"/>
              </a:rPr>
              <a:t>Medecine</a:t>
            </a:r>
            <a:endParaRPr lang="en-US" b="1" err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53901-9680-7654-54FE-158D7EFF49AE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5BDF1-1A52-63D9-80A3-C9B172F1B7AA}"/>
              </a:ext>
            </a:extLst>
          </p:cNvPr>
          <p:cNvSpPr/>
          <p:nvPr/>
        </p:nvSpPr>
        <p:spPr>
          <a:xfrm>
            <a:off x="0" y="0"/>
            <a:ext cx="12192000" cy="760197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FE7D64-FF6E-26F4-F61D-47BE1615B8E9}"/>
              </a:ext>
            </a:extLst>
          </p:cNvPr>
          <p:cNvSpPr txBox="1"/>
          <p:nvPr/>
        </p:nvSpPr>
        <p:spPr>
          <a:xfrm>
            <a:off x="4757194" y="-70792"/>
            <a:ext cx="4282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Lora" pitchFamily="2" charset="0"/>
              </a:rPr>
              <a:t>Outline </a:t>
            </a:r>
            <a:r>
              <a:rPr lang="en-US" sz="3200" b="1">
                <a:solidFill>
                  <a:schemeClr val="bg1"/>
                </a:solidFill>
                <a:latin typeface="Lora" pitchFamily="2" charset="0"/>
              </a:rPr>
              <a:t>: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B62A25E0-0EE3-6D8A-E718-C7C9C169F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196323"/>
              </p:ext>
            </p:extLst>
          </p:nvPr>
        </p:nvGraphicFramePr>
        <p:xfrm>
          <a:off x="0" y="990599"/>
          <a:ext cx="6515100" cy="5371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F7DBC971-3ED5-8B99-BF1B-9CD7B45A71F7}"/>
              </a:ext>
            </a:extLst>
          </p:cNvPr>
          <p:cNvSpPr txBox="1"/>
          <p:nvPr/>
        </p:nvSpPr>
        <p:spPr>
          <a:xfrm>
            <a:off x="421030" y="1469957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90C4A46-D160-0A4C-7701-8428BEAC3BD7}"/>
              </a:ext>
            </a:extLst>
          </p:cNvPr>
          <p:cNvSpPr txBox="1"/>
          <p:nvPr/>
        </p:nvSpPr>
        <p:spPr>
          <a:xfrm>
            <a:off x="804440" y="2659559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/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8ACC7D-DD98-FAFB-DE8A-EEF165DAF0AE}"/>
              </a:ext>
            </a:extLst>
          </p:cNvPr>
          <p:cNvSpPr txBox="1"/>
          <p:nvPr/>
        </p:nvSpPr>
        <p:spPr>
          <a:xfrm>
            <a:off x="804440" y="4006742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/>
              <a:t>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34C1E8A-FD64-C50C-6E1A-A6828F2D9A7A}"/>
              </a:ext>
            </a:extLst>
          </p:cNvPr>
          <p:cNvSpPr txBox="1"/>
          <p:nvPr/>
        </p:nvSpPr>
        <p:spPr>
          <a:xfrm>
            <a:off x="307213" y="5213713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5212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CD0C-2497-2358-E807-4CF1E4E22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A15E78F-3B25-BDFA-DA13-AB7D60C68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5E00B-767F-90E6-1108-F0D8C8A6A1CF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Introduction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719C12-2843-3125-6B5D-05D3FA68F5A8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9900C-3357-08A1-8F0D-5F612E595291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12">
            <a:extLst>
              <a:ext uri="{FF2B5EF4-FFF2-40B4-BE49-F238E27FC236}">
                <a16:creationId xmlns:a16="http://schemas.microsoft.com/office/drawing/2014/main" id="{53AA6A2F-F6B1-7497-4699-51CA35BA08C3}"/>
              </a:ext>
            </a:extLst>
          </p:cNvPr>
          <p:cNvSpPr txBox="1"/>
          <p:nvPr/>
        </p:nvSpPr>
        <p:spPr>
          <a:xfrm>
            <a:off x="557" y="2453"/>
            <a:ext cx="871267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chemeClr val="bg1"/>
                </a:solidFill>
                <a:latin typeface="Lora"/>
              </a:rPr>
              <a:t>1) INTRODUCTION TO NUCLEAR MEDICINE</a:t>
            </a:r>
            <a:r>
              <a:rPr lang="fr-FR" sz="2800" b="1" u="sng">
                <a:solidFill>
                  <a:schemeClr val="bg1"/>
                </a:solidFill>
                <a:latin typeface="Lora"/>
              </a:rPr>
              <a:t> :</a:t>
            </a:r>
            <a:endParaRPr lang="en-US" sz="2800" b="1" u="sng">
              <a:solidFill>
                <a:schemeClr val="bg1"/>
              </a:solidFill>
              <a:latin typeface="Lora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9EA35F6E-9B93-4F7D-74B0-A7954EA0CEAB}"/>
              </a:ext>
            </a:extLst>
          </p:cNvPr>
          <p:cNvSpPr txBox="1"/>
          <p:nvPr/>
        </p:nvSpPr>
        <p:spPr>
          <a:xfrm>
            <a:off x="3044920" y="660487"/>
            <a:ext cx="60960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097C8F"/>
                </a:solidFill>
              </a:rPr>
              <a:t>Nuclear medicine uses radioactive isotopes for:</a:t>
            </a:r>
            <a:endParaRPr lang="en-US" sz="2000"/>
          </a:p>
          <a:p>
            <a:endParaRPr lang="en-US" b="1">
              <a:solidFill>
                <a:srgbClr val="097C8F"/>
              </a:solidFill>
            </a:endParaRPr>
          </a:p>
          <a:p>
            <a:endParaRPr lang="en-US" sz="1400"/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8EA6837A-8176-113B-16A2-2C374010E4F8}"/>
              </a:ext>
            </a:extLst>
          </p:cNvPr>
          <p:cNvSpPr txBox="1"/>
          <p:nvPr/>
        </p:nvSpPr>
        <p:spPr>
          <a:xfrm>
            <a:off x="2052882" y="1091807"/>
            <a:ext cx="1984077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Medical Imaging</a:t>
            </a:r>
          </a:p>
          <a:p>
            <a:endParaRPr lang="en-US" b="1">
              <a:solidFill>
                <a:srgbClr val="097C8F"/>
              </a:solidFill>
            </a:endParaRPr>
          </a:p>
          <a:p>
            <a:endParaRPr lang="en-US" sz="1400"/>
          </a:p>
        </p:txBody>
      </p:sp>
      <p:sp>
        <p:nvSpPr>
          <p:cNvPr id="12" name="ZoneTexte 29">
            <a:extLst>
              <a:ext uri="{FF2B5EF4-FFF2-40B4-BE49-F238E27FC236}">
                <a16:creationId xmlns:a16="http://schemas.microsoft.com/office/drawing/2014/main" id="{41C4FDA3-CA57-74E8-0B09-EEB5F44836EA}"/>
              </a:ext>
            </a:extLst>
          </p:cNvPr>
          <p:cNvSpPr txBox="1"/>
          <p:nvPr/>
        </p:nvSpPr>
        <p:spPr>
          <a:xfrm>
            <a:off x="6668014" y="1091807"/>
            <a:ext cx="2990491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Therapy (cancer treatment)</a:t>
            </a:r>
            <a:endParaRPr lang="en-US" u="sng"/>
          </a:p>
          <a:p>
            <a:endParaRPr lang="en-US" b="1">
              <a:solidFill>
                <a:srgbClr val="097C8F"/>
              </a:solidFill>
            </a:endParaRPr>
          </a:p>
          <a:p>
            <a:endParaRPr lang="en-US" sz="1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32C2AC-DA28-C3C6-F99D-29AD1948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593" y="1516272"/>
            <a:ext cx="4838700" cy="2876550"/>
          </a:xfrm>
          <a:prstGeom prst="rect">
            <a:avLst/>
          </a:prstGeom>
        </p:spPr>
      </p:pic>
      <p:sp>
        <p:nvSpPr>
          <p:cNvPr id="14" name="ZoneTexte 29">
            <a:extLst>
              <a:ext uri="{FF2B5EF4-FFF2-40B4-BE49-F238E27FC236}">
                <a16:creationId xmlns:a16="http://schemas.microsoft.com/office/drawing/2014/main" id="{0BF7E347-A728-9A06-463B-86F23659C1E2}"/>
              </a:ext>
            </a:extLst>
          </p:cNvPr>
          <p:cNvSpPr txBox="1"/>
          <p:nvPr/>
        </p:nvSpPr>
        <p:spPr>
          <a:xfrm>
            <a:off x="456995" y="4412977"/>
            <a:ext cx="4830792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/>
              <a:t>In conventional X-rays:</a:t>
            </a:r>
          </a:p>
          <a:p>
            <a:r>
              <a:rPr lang="en-US">
                <a:solidFill>
                  <a:srgbClr val="000000"/>
                </a:solidFill>
              </a:rPr>
              <a:t>The machine emits radiation</a:t>
            </a:r>
          </a:p>
          <a:p>
            <a:endParaRPr lang="en-US"/>
          </a:p>
          <a:p>
            <a:r>
              <a:rPr lang="en-US" b="1"/>
              <a:t>In nuclear medicine:</a:t>
            </a:r>
          </a:p>
          <a:p>
            <a:r>
              <a:rPr lang="en-US">
                <a:highlight>
                  <a:srgbClr val="00FFFF"/>
                </a:highlight>
              </a:rPr>
              <a:t>The patient becomes the source of radiation</a:t>
            </a: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596F94FE-A029-9F2C-E46D-A0CABBC21822}"/>
              </a:ext>
            </a:extLst>
          </p:cNvPr>
          <p:cNvSpPr txBox="1"/>
          <p:nvPr/>
        </p:nvSpPr>
        <p:spPr>
          <a:xfrm>
            <a:off x="7243108" y="4412976"/>
            <a:ext cx="4830792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u="sng"/>
              <a:t>Applications: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Cancer detection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Thyroid disorders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Bone imaging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Cardiac imaging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Functional imaging</a:t>
            </a:r>
          </a:p>
        </p:txBody>
      </p:sp>
    </p:spTree>
    <p:extLst>
      <p:ext uri="{BB962C8B-B14F-4D97-AF65-F5344CB8AC3E}">
        <p14:creationId xmlns:p14="http://schemas.microsoft.com/office/powerpoint/2010/main" val="143688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D4A3D-E6AA-284F-A1D3-5585A018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C137402-950C-C488-50C0-A7D68FB02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1346A-7F2F-9681-97C3-F09D5EE306F6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err="1">
                <a:latin typeface="Lora"/>
              </a:rPr>
              <a:t>Physics</a:t>
            </a:r>
            <a:r>
              <a:rPr lang="fr-FR" b="1">
                <a:latin typeface="Lora"/>
              </a:rPr>
              <a:t> </a:t>
            </a:r>
            <a:r>
              <a:rPr lang="fr-FR" b="1" err="1">
                <a:latin typeface="Lora"/>
              </a:rPr>
              <a:t>Foundations</a:t>
            </a:r>
            <a:endParaRPr lang="fr-FR" err="1">
              <a:latin typeface="Lor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FAE313-4D1F-71AA-4DAE-3946CD0D9737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03032-389E-EF04-18F6-C1CC3377DD74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821A7-127D-5C12-B522-6F3CB6F1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863" y="1015401"/>
            <a:ext cx="4000500" cy="5143500"/>
          </a:xfrm>
          <a:prstGeom prst="rect">
            <a:avLst/>
          </a:prstGeom>
        </p:spPr>
      </p:pic>
      <p:sp>
        <p:nvSpPr>
          <p:cNvPr id="10" name="ZoneTexte 12">
            <a:extLst>
              <a:ext uri="{FF2B5EF4-FFF2-40B4-BE49-F238E27FC236}">
                <a16:creationId xmlns:a16="http://schemas.microsoft.com/office/drawing/2014/main" id="{5213E86F-7638-76A6-E156-F29584106594}"/>
              </a:ext>
            </a:extLst>
          </p:cNvPr>
          <p:cNvSpPr txBox="1"/>
          <p:nvPr/>
        </p:nvSpPr>
        <p:spPr>
          <a:xfrm>
            <a:off x="557" y="2453"/>
            <a:ext cx="8712678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Lora"/>
              </a:rPr>
              <a:t>A) Radioactivity and Type of nuclear decay</a:t>
            </a:r>
            <a:r>
              <a:rPr lang="fr-FR" sz="2400" b="1">
                <a:solidFill>
                  <a:schemeClr val="bg1"/>
                </a:solidFill>
                <a:latin typeface="Lora"/>
              </a:rPr>
              <a:t>:</a:t>
            </a:r>
            <a:endParaRPr lang="en-US" sz="2400" b="1">
              <a:solidFill>
                <a:schemeClr val="bg1"/>
              </a:solidFill>
              <a:latin typeface="Lora"/>
            </a:endParaRPr>
          </a:p>
        </p:txBody>
      </p:sp>
      <p:sp>
        <p:nvSpPr>
          <p:cNvPr id="12" name="ZoneTexte 29">
            <a:extLst>
              <a:ext uri="{FF2B5EF4-FFF2-40B4-BE49-F238E27FC236}">
                <a16:creationId xmlns:a16="http://schemas.microsoft.com/office/drawing/2014/main" id="{3680F06D-F21C-8177-4F58-5132DFFF5D5F}"/>
              </a:ext>
            </a:extLst>
          </p:cNvPr>
          <p:cNvSpPr txBox="1"/>
          <p:nvPr/>
        </p:nvSpPr>
        <p:spPr>
          <a:xfrm>
            <a:off x="-3080" y="660488"/>
            <a:ext cx="81375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>
                <a:solidFill>
                  <a:srgbClr val="097C8F"/>
                </a:solidFill>
              </a:rPr>
              <a:t>Radioactivity : </a:t>
            </a:r>
            <a:r>
              <a:rPr lang="en-US" sz="2000">
                <a:solidFill>
                  <a:srgbClr val="000000"/>
                </a:solidFill>
              </a:rPr>
              <a:t>The spontaneous transformation </a:t>
            </a:r>
          </a:p>
          <a:p>
            <a:pPr algn="ctr"/>
            <a:r>
              <a:rPr lang="en-US" sz="2000">
                <a:solidFill>
                  <a:srgbClr val="000000"/>
                </a:solidFill>
              </a:rPr>
              <a:t>of an unstable nucleus intro a more stable nucleus</a:t>
            </a:r>
            <a:endParaRPr lang="en-US" sz="20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D9D076-5579-BCCC-676E-0FF90D275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15" y="1427762"/>
            <a:ext cx="7262724" cy="43044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CAC561-9DFF-45E0-66A5-7F7EEA2A4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47" y="5881238"/>
            <a:ext cx="1833294" cy="4007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62C8E-3A22-83EC-9E84-0288D9859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016" y="5876206"/>
            <a:ext cx="1976337" cy="394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098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115D-B2AC-3348-AF15-BC1565E8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28FB7DC-81E4-1027-55BA-CA285B1E9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00EFE-26C0-79FE-5FAF-4C6388CD3E74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err="1">
                <a:latin typeface="Lora"/>
              </a:rPr>
              <a:t>Physics</a:t>
            </a:r>
            <a:r>
              <a:rPr lang="fr-FR" b="1">
                <a:latin typeface="Lora"/>
              </a:rPr>
              <a:t> </a:t>
            </a:r>
            <a:r>
              <a:rPr lang="fr-FR" b="1" err="1">
                <a:latin typeface="Lora"/>
              </a:rPr>
              <a:t>Foundations</a:t>
            </a:r>
            <a:endParaRPr lang="fr-FR" err="1">
              <a:latin typeface="Lor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CD231-5B0D-077C-4285-7CAA76F6CEE3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82AEBF-9B8F-4991-CF9B-58B2FD9BCCE9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F24A85-66B6-5ECA-BE57-0B5FB1A9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0" y="1643152"/>
            <a:ext cx="7920308" cy="3327281"/>
          </a:xfrm>
          <a:prstGeom prst="rect">
            <a:avLst/>
          </a:prstGeom>
        </p:spPr>
      </p:pic>
      <p:sp>
        <p:nvSpPr>
          <p:cNvPr id="8" name="ZoneTexte 29">
            <a:extLst>
              <a:ext uri="{FF2B5EF4-FFF2-40B4-BE49-F238E27FC236}">
                <a16:creationId xmlns:a16="http://schemas.microsoft.com/office/drawing/2014/main" id="{7DE422F1-6185-2D62-EB39-A2657CF27C07}"/>
              </a:ext>
            </a:extLst>
          </p:cNvPr>
          <p:cNvSpPr txBox="1"/>
          <p:nvPr/>
        </p:nvSpPr>
        <p:spPr>
          <a:xfrm>
            <a:off x="-3080" y="631734"/>
            <a:ext cx="567905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Radiation interacts with tissues mainly through: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ctr"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Ionization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 algn="ctr"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Excitation of atoms</a:t>
            </a:r>
            <a:endParaRPr lang="en-US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E55F4B-8218-4A65-F34E-3269837E9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253" y="1355875"/>
            <a:ext cx="2388440" cy="1702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B1730E-60E3-84A7-D35D-53DF458F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352" y="3741886"/>
            <a:ext cx="3178655" cy="1703359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C86F5569-88B7-B343-E38E-98D7953E2479}"/>
              </a:ext>
            </a:extLst>
          </p:cNvPr>
          <p:cNvSpPr txBox="1"/>
          <p:nvPr/>
        </p:nvSpPr>
        <p:spPr>
          <a:xfrm>
            <a:off x="7760693" y="948036"/>
            <a:ext cx="4715773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u="sng">
                <a:solidFill>
                  <a:srgbClr val="000000"/>
                </a:solidFill>
                <a:ea typeface="+mn-lt"/>
                <a:cs typeface="+mn-lt"/>
              </a:rPr>
              <a:t>Main photon interactions:</a:t>
            </a:r>
            <a:endParaRPr lang="en-US" u="sng"/>
          </a:p>
        </p:txBody>
      </p:sp>
      <p:sp>
        <p:nvSpPr>
          <p:cNvPr id="12" name="ZoneTexte 29">
            <a:extLst>
              <a:ext uri="{FF2B5EF4-FFF2-40B4-BE49-F238E27FC236}">
                <a16:creationId xmlns:a16="http://schemas.microsoft.com/office/drawing/2014/main" id="{2553641C-4CA7-61B2-3E56-C210F84B1679}"/>
              </a:ext>
            </a:extLst>
          </p:cNvPr>
          <p:cNvSpPr txBox="1"/>
          <p:nvPr/>
        </p:nvSpPr>
        <p:spPr>
          <a:xfrm>
            <a:off x="7760692" y="3032752"/>
            <a:ext cx="471577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>
                <a:solidFill>
                  <a:srgbClr val="1FD3F1"/>
                </a:solidFill>
                <a:ea typeface="+mn-lt"/>
                <a:cs typeface="+mn-lt"/>
              </a:rPr>
              <a:t>Photoelectric effect</a:t>
            </a:r>
            <a:endParaRPr lang="en-US">
              <a:solidFill>
                <a:srgbClr val="1FD3F1"/>
              </a:solidFill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388BD0A1-400F-6760-70A3-48E6DE125657}"/>
              </a:ext>
            </a:extLst>
          </p:cNvPr>
          <p:cNvSpPr txBox="1"/>
          <p:nvPr/>
        </p:nvSpPr>
        <p:spPr>
          <a:xfrm>
            <a:off x="7760691" y="5261242"/>
            <a:ext cx="471577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>
                <a:solidFill>
                  <a:srgbClr val="1FD3F1"/>
                </a:solidFill>
                <a:ea typeface="+mn-lt"/>
                <a:cs typeface="+mn-lt"/>
              </a:rPr>
              <a:t>Compton scattering</a:t>
            </a:r>
            <a:endParaRPr lang="en-US"/>
          </a:p>
        </p:txBody>
      </p:sp>
      <p:sp>
        <p:nvSpPr>
          <p:cNvPr id="15" name="ZoneTexte 12">
            <a:extLst>
              <a:ext uri="{FF2B5EF4-FFF2-40B4-BE49-F238E27FC236}">
                <a16:creationId xmlns:a16="http://schemas.microsoft.com/office/drawing/2014/main" id="{92423CA7-69B8-FF74-9CD2-3010E2DE1B54}"/>
              </a:ext>
            </a:extLst>
          </p:cNvPr>
          <p:cNvSpPr txBox="1"/>
          <p:nvPr/>
        </p:nvSpPr>
        <p:spPr>
          <a:xfrm>
            <a:off x="557" y="2453"/>
            <a:ext cx="8712678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Lora"/>
              </a:rPr>
              <a:t>B) Interaction of radiation with </a:t>
            </a:r>
            <a:r>
              <a:rPr lang="en-US" sz="2400" b="1" err="1">
                <a:solidFill>
                  <a:schemeClr val="bg1"/>
                </a:solidFill>
                <a:latin typeface="Lora"/>
              </a:rPr>
              <a:t>bioligical</a:t>
            </a:r>
            <a:r>
              <a:rPr lang="en-US" sz="2400" b="1">
                <a:solidFill>
                  <a:schemeClr val="bg1"/>
                </a:solidFill>
                <a:latin typeface="Lora"/>
              </a:rPr>
              <a:t> matter</a:t>
            </a:r>
            <a:r>
              <a:rPr lang="fr-FR" sz="2400" b="1">
                <a:solidFill>
                  <a:schemeClr val="bg1"/>
                </a:solidFill>
                <a:latin typeface="Lora"/>
              </a:rPr>
              <a:t>:</a:t>
            </a:r>
            <a:endParaRPr lang="en-US" sz="2400" b="1">
              <a:solidFill>
                <a:schemeClr val="bg1"/>
              </a:solidFill>
              <a:latin typeface="Lora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6E1A466-E108-5A1A-46BF-C54AFB426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77720"/>
              </p:ext>
            </p:extLst>
          </p:nvPr>
        </p:nvGraphicFramePr>
        <p:xfrm>
          <a:off x="228888" y="5265621"/>
          <a:ext cx="8686815" cy="117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5">
                  <a:extLst>
                    <a:ext uri="{9D8B030D-6E8A-4147-A177-3AD203B41FA5}">
                      <a16:colId xmlns:a16="http://schemas.microsoft.com/office/drawing/2014/main" val="1430349381"/>
                    </a:ext>
                  </a:extLst>
                </a:gridCol>
                <a:gridCol w="2895605">
                  <a:extLst>
                    <a:ext uri="{9D8B030D-6E8A-4147-A177-3AD203B41FA5}">
                      <a16:colId xmlns:a16="http://schemas.microsoft.com/office/drawing/2014/main" val="4053397583"/>
                    </a:ext>
                  </a:extLst>
                </a:gridCol>
                <a:gridCol w="2895605">
                  <a:extLst>
                    <a:ext uri="{9D8B030D-6E8A-4147-A177-3AD203B41FA5}">
                      <a16:colId xmlns:a16="http://schemas.microsoft.com/office/drawing/2014/main" val="962253138"/>
                    </a:ext>
                  </a:extLst>
                </a:gridCol>
              </a:tblGrid>
              <a:tr h="5366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Alpha particles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Beta particles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Gamma 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24959"/>
                  </a:ext>
                </a:extLst>
              </a:tr>
              <a:tr h="53666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very high ionization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very short range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moderate penetration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scattering in tissues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highly penetrating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 detected outside the body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906766"/>
                  </a:ext>
                </a:extLst>
              </a:tr>
            </a:tbl>
          </a:graphicData>
        </a:graphic>
      </p:graphicFrame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B28DCD5-F53D-418F-EB23-DCBB1F3CE63B}"/>
              </a:ext>
            </a:extLst>
          </p:cNvPr>
          <p:cNvCxnSpPr/>
          <p:nvPr/>
        </p:nvCxnSpPr>
        <p:spPr>
          <a:xfrm flipV="1">
            <a:off x="8225861" y="1277573"/>
            <a:ext cx="411193" cy="42326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9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1415-4026-1768-2CFB-18C8F09B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EE35F3F-9E48-8203-27AA-B3F57A649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54956-0F7D-1DB4-245A-599FAD43BEAE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Physics </a:t>
            </a:r>
            <a:r>
              <a:rPr lang="fr-FR" b="1" err="1">
                <a:latin typeface="Lora"/>
              </a:rPr>
              <a:t>Foundations</a:t>
            </a:r>
            <a:endParaRPr lang="fr-FR" err="1">
              <a:latin typeface="Lor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A804C2-760F-65CA-355D-1803C4BEB199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0E9A8-F7FD-6365-9E71-91DD87A92D1F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12">
            <a:extLst>
              <a:ext uri="{FF2B5EF4-FFF2-40B4-BE49-F238E27FC236}">
                <a16:creationId xmlns:a16="http://schemas.microsoft.com/office/drawing/2014/main" id="{5DDC7F3B-21AD-9BE5-B2AB-C6570E1F0E21}"/>
              </a:ext>
            </a:extLst>
          </p:cNvPr>
          <p:cNvSpPr txBox="1"/>
          <p:nvPr/>
        </p:nvSpPr>
        <p:spPr>
          <a:xfrm>
            <a:off x="557" y="2453"/>
            <a:ext cx="100066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Lora"/>
              </a:rPr>
              <a:t>C) Radiation dosimetry :</a:t>
            </a:r>
            <a:endParaRPr lang="fr-FR" sz="2400" b="1">
              <a:solidFill>
                <a:schemeClr val="bg1"/>
              </a:solidFill>
              <a:latin typeface="Lor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718861-F0AB-D37B-E008-544CA792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" r="-139" b="7671"/>
          <a:stretch>
            <a:fillRect/>
          </a:stretch>
        </p:blipFill>
        <p:spPr>
          <a:xfrm>
            <a:off x="808906" y="631726"/>
            <a:ext cx="10775482" cy="589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68B6-C1A6-AC32-B0E8-F8107093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2310993-BFEE-8974-5725-286B3385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8AE1D-1E3D-F4CD-19F3-DD7F2F0B0008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err="1">
                <a:latin typeface="Lora"/>
              </a:rPr>
              <a:t>Physics</a:t>
            </a:r>
            <a:r>
              <a:rPr lang="fr-FR" b="1">
                <a:latin typeface="Lora"/>
              </a:rPr>
              <a:t> </a:t>
            </a:r>
            <a:r>
              <a:rPr lang="fr-FR" b="1" err="1">
                <a:latin typeface="Lora"/>
              </a:rPr>
              <a:t>Foundations</a:t>
            </a:r>
            <a:endParaRPr lang="fr-FR" err="1">
              <a:latin typeface="Lor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64FA4-16CE-74A1-FD85-6A15B174FE47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A52A6-5813-2C89-A030-9C9E62F4F98B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2">
            <a:extLst>
              <a:ext uri="{FF2B5EF4-FFF2-40B4-BE49-F238E27FC236}">
                <a16:creationId xmlns:a16="http://schemas.microsoft.com/office/drawing/2014/main" id="{B52860B1-FF92-3601-1B19-1C20F51DE6A7}"/>
              </a:ext>
            </a:extLst>
          </p:cNvPr>
          <p:cNvSpPr txBox="1"/>
          <p:nvPr/>
        </p:nvSpPr>
        <p:spPr>
          <a:xfrm>
            <a:off x="557" y="2453"/>
            <a:ext cx="8712678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Lora"/>
              </a:rPr>
              <a:t>D) Criteria for choosing medical radioisotopes:</a:t>
            </a:r>
            <a:endParaRPr lang="fr-FR" sz="2400">
              <a:solidFill>
                <a:schemeClr val="bg1"/>
              </a:solidFill>
              <a:latin typeface="Lora"/>
            </a:endParaRPr>
          </a:p>
          <a:p>
            <a:endParaRPr lang="en-US" sz="2400" b="1">
              <a:solidFill>
                <a:schemeClr val="bg1"/>
              </a:solidFill>
              <a:latin typeface="Lor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87EE0-FD4F-6DB8-817B-C8396A6DBEED}"/>
              </a:ext>
            </a:extLst>
          </p:cNvPr>
          <p:cNvGraphicFramePr>
            <a:graphicFrameLocks noGrp="1"/>
          </p:cNvGraphicFramePr>
          <p:nvPr/>
        </p:nvGraphicFramePr>
        <p:xfrm>
          <a:off x="316301" y="833886"/>
          <a:ext cx="11555068" cy="210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767">
                  <a:extLst>
                    <a:ext uri="{9D8B030D-6E8A-4147-A177-3AD203B41FA5}">
                      <a16:colId xmlns:a16="http://schemas.microsoft.com/office/drawing/2014/main" val="3042117266"/>
                    </a:ext>
                  </a:extLst>
                </a:gridCol>
                <a:gridCol w="2888767">
                  <a:extLst>
                    <a:ext uri="{9D8B030D-6E8A-4147-A177-3AD203B41FA5}">
                      <a16:colId xmlns:a16="http://schemas.microsoft.com/office/drawing/2014/main" val="1215786878"/>
                    </a:ext>
                  </a:extLst>
                </a:gridCol>
                <a:gridCol w="2888767">
                  <a:extLst>
                    <a:ext uri="{9D8B030D-6E8A-4147-A177-3AD203B41FA5}">
                      <a16:colId xmlns:a16="http://schemas.microsoft.com/office/drawing/2014/main" val="1790113490"/>
                    </a:ext>
                  </a:extLst>
                </a:gridCol>
                <a:gridCol w="2888767">
                  <a:extLst>
                    <a:ext uri="{9D8B030D-6E8A-4147-A177-3AD203B41FA5}">
                      <a16:colId xmlns:a16="http://schemas.microsoft.com/office/drawing/2014/main" val="680864674"/>
                    </a:ext>
                  </a:extLst>
                </a:gridCol>
              </a:tblGrid>
              <a:tr h="54428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Half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 of 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Photon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Biological targeting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216246"/>
                  </a:ext>
                </a:extLst>
              </a:tr>
              <a:tr h="156135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Short enough to reduce patient dose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Long enough for examination or 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/>
                        <a:t>γ</a:t>
                      </a:r>
                      <a:r>
                        <a:rPr lang="en-US" sz="1800" b="0" i="0" u="none" strike="noStrike" noProof="0">
                          <a:latin typeface="Aptos"/>
                        </a:rPr>
                        <a:t> </a:t>
                      </a:r>
                      <a:r>
                        <a:rPr lang="en-US" sz="1800" b="0" i="0" u="none" strike="noStrike" noProof="0"/>
                        <a:t>emitters for imaging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β or α emitters for therapy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Typically 100–200 keV for imaging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Must accumulate in target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organ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744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428F5D7-5604-0A3D-449D-FA8F85D88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12" y="3099220"/>
            <a:ext cx="1610445" cy="2600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1B148D-DC99-65EC-F3EC-63B1F935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133" y="3105060"/>
            <a:ext cx="3629206" cy="25744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826B33-194B-0DBE-8A34-ED5BACA49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615" y="3462068"/>
            <a:ext cx="4100243" cy="2234242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758C2F28-709E-ACBC-83F4-CCD4A0EDF392}"/>
              </a:ext>
            </a:extLst>
          </p:cNvPr>
          <p:cNvSpPr txBox="1"/>
          <p:nvPr/>
        </p:nvSpPr>
        <p:spPr>
          <a:xfrm>
            <a:off x="313222" y="5865092"/>
            <a:ext cx="1155939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/>
              <a:t>     Tc-99m                                                   F-18 PET scan                                                          I-131 (for thyroid therapy)</a:t>
            </a:r>
          </a:p>
          <a:p>
            <a:r>
              <a:rPr lang="en-US" sz="2000"/>
              <a:t>    (imaging)</a:t>
            </a:r>
          </a:p>
        </p:txBody>
      </p:sp>
    </p:spTree>
    <p:extLst>
      <p:ext uri="{BB962C8B-B14F-4D97-AF65-F5344CB8AC3E}">
        <p14:creationId xmlns:p14="http://schemas.microsoft.com/office/powerpoint/2010/main" val="250543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CFA2-1894-7B18-58EC-5B08E65B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88EE4D3-240F-C82D-1696-3234A302C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11EFA-83A8-1F66-07C2-B38C90D0E10D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B3174-59FE-7490-88C1-85FC65D6CD11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B3F18C-47FE-B15D-91D7-BF61B471D6EA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3FFEC31-670C-8A0C-4295-9D4F17EB5055}"/>
              </a:ext>
            </a:extLst>
          </p:cNvPr>
          <p:cNvSpPr txBox="1"/>
          <p:nvPr/>
        </p:nvSpPr>
        <p:spPr>
          <a:xfrm>
            <a:off x="385108" y="46628"/>
            <a:ext cx="783566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2) Nuclear Imaging</a:t>
            </a:r>
            <a:endParaRPr lang="en-US" sz="3200" b="1" u="sng">
              <a:solidFill>
                <a:schemeClr val="bg1"/>
              </a:solidFill>
              <a:latin typeface="Lora"/>
            </a:endParaRPr>
          </a:p>
        </p:txBody>
      </p:sp>
      <p:sp>
        <p:nvSpPr>
          <p:cNvPr id="14" name="AutoShape 2" descr="Total-Body PET Multiparametric Imaging of Cancer Using a Voxelwise ...">
            <a:extLst>
              <a:ext uri="{FF2B5EF4-FFF2-40B4-BE49-F238E27FC236}">
                <a16:creationId xmlns:a16="http://schemas.microsoft.com/office/drawing/2014/main" id="{51ACB35A-90CA-D475-0B0E-DF524535E9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04CA538-96C5-E807-01B4-5E883CC70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08" y="4486436"/>
            <a:ext cx="3185175" cy="153739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E343676-1F5F-E654-7B5D-C14AC6393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344" y="4489458"/>
            <a:ext cx="2087271" cy="16078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AFA26EA-2956-45E0-01D0-13A81C87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256" y="4564394"/>
            <a:ext cx="1643323" cy="153739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BBD99F3-4CD5-1BB6-F818-89A0DB0C6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700" y="4311205"/>
            <a:ext cx="2980616" cy="171994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C0D52D9F-41D3-927D-0C17-BA0104741CE9}"/>
              </a:ext>
            </a:extLst>
          </p:cNvPr>
          <p:cNvSpPr txBox="1"/>
          <p:nvPr/>
        </p:nvSpPr>
        <p:spPr>
          <a:xfrm>
            <a:off x="782504" y="61093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/>
              <a:t>Injection of the </a:t>
            </a:r>
            <a:r>
              <a:rPr lang="fr-FR" sz="1400" b="1" err="1"/>
              <a:t>Radiotracer</a:t>
            </a:r>
            <a:endParaRPr lang="en-US" sz="1400" b="1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D15782A-AC3A-74F5-3E18-F755C6E8870E}"/>
              </a:ext>
            </a:extLst>
          </p:cNvPr>
          <p:cNvSpPr txBox="1"/>
          <p:nvPr/>
        </p:nvSpPr>
        <p:spPr>
          <a:xfrm>
            <a:off x="8486891" y="6125993"/>
            <a:ext cx="3705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External Detection and Image Formation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D98B2AB-E9B9-670E-5968-958B9F5C4121}"/>
              </a:ext>
            </a:extLst>
          </p:cNvPr>
          <p:cNvSpPr txBox="1"/>
          <p:nvPr/>
        </p:nvSpPr>
        <p:spPr>
          <a:xfrm>
            <a:off x="6248400" y="6157700"/>
            <a:ext cx="2368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/>
              <a:t>Radioactive Emission</a:t>
            </a:r>
            <a:endParaRPr lang="en-US" sz="1400" b="1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EEBFDB2-85E5-A6DE-610F-494240D020E3}"/>
              </a:ext>
            </a:extLst>
          </p:cNvPr>
          <p:cNvSpPr txBox="1"/>
          <p:nvPr/>
        </p:nvSpPr>
        <p:spPr>
          <a:xfrm>
            <a:off x="4012336" y="6157700"/>
            <a:ext cx="2589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/>
              <a:t>Distribution in the Body</a:t>
            </a:r>
            <a:endParaRPr lang="en-US" sz="1400" b="1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6271C43-B8D6-C680-4DB8-09D08D3C0406}"/>
              </a:ext>
            </a:extLst>
          </p:cNvPr>
          <p:cNvSpPr txBox="1"/>
          <p:nvPr/>
        </p:nvSpPr>
        <p:spPr>
          <a:xfrm>
            <a:off x="3970938" y="392907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>
                <a:solidFill>
                  <a:srgbClr val="097C8F"/>
                </a:solidFill>
              </a:rPr>
              <a:t>The Principles of Nuclear Imaging :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5E8EB70D-5881-D3D2-8ED5-A368044F55D0}"/>
              </a:ext>
            </a:extLst>
          </p:cNvPr>
          <p:cNvCxnSpPr>
            <a:cxnSpLocks/>
          </p:cNvCxnSpPr>
          <p:nvPr/>
        </p:nvCxnSpPr>
        <p:spPr>
          <a:xfrm flipV="1">
            <a:off x="1868116" y="3827438"/>
            <a:ext cx="5960555" cy="19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C228F3C-06BD-8FF3-7048-E63B694705EA}"/>
              </a:ext>
            </a:extLst>
          </p:cNvPr>
          <p:cNvSpPr txBox="1"/>
          <p:nvPr/>
        </p:nvSpPr>
        <p:spPr>
          <a:xfrm>
            <a:off x="3970938" y="964619"/>
            <a:ext cx="36898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097C8F"/>
                </a:solidFill>
              </a:rPr>
              <a:t>Nuclear imaging sees function :</a:t>
            </a:r>
            <a:endParaRPr lang="en-US">
              <a:solidFill>
                <a:srgbClr val="097C8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Is the tumor metabolically active?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Is the organ working properly?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Where has cancer spread?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62EF235-F04A-DA51-49D7-D9BEEEB81E05}"/>
              </a:ext>
            </a:extLst>
          </p:cNvPr>
          <p:cNvSpPr txBox="1"/>
          <p:nvPr/>
        </p:nvSpPr>
        <p:spPr>
          <a:xfrm>
            <a:off x="541012" y="2193217"/>
            <a:ext cx="612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97C8F"/>
                </a:solidFill>
              </a:rPr>
              <a:t>Nuclear Imaging </a:t>
            </a:r>
            <a:r>
              <a:rPr lang="fr-FR" sz="1800" b="1" u="sng">
                <a:solidFill>
                  <a:srgbClr val="097C8F"/>
                </a:solidFill>
              </a:rPr>
              <a:t>techniques :</a:t>
            </a:r>
            <a:endParaRPr lang="en-US" sz="1800" b="1">
              <a:solidFill>
                <a:srgbClr val="097C8F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A490140-07F5-1185-66B1-66CB48158A21}"/>
              </a:ext>
            </a:extLst>
          </p:cNvPr>
          <p:cNvSpPr txBox="1"/>
          <p:nvPr/>
        </p:nvSpPr>
        <p:spPr>
          <a:xfrm>
            <a:off x="541012" y="2409453"/>
            <a:ext cx="6123006" cy="1327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1400" b="1" err="1">
                <a:highlight>
                  <a:srgbClr val="00FFFF"/>
                </a:highlight>
              </a:rPr>
              <a:t>Planar</a:t>
            </a:r>
            <a:r>
              <a:rPr lang="fr-FR" sz="1400" b="1">
                <a:highlight>
                  <a:srgbClr val="00FFFF"/>
                </a:highlight>
              </a:rPr>
              <a:t> </a:t>
            </a:r>
            <a:r>
              <a:rPr lang="fr-FR" sz="1400" b="1" err="1">
                <a:highlight>
                  <a:srgbClr val="00FFFF"/>
                </a:highlight>
              </a:rPr>
              <a:t>Scintigraphy</a:t>
            </a:r>
            <a:endParaRPr lang="fr-FR" sz="1400" b="1">
              <a:highlight>
                <a:srgbClr val="00FFFF"/>
              </a:highlight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en-US" sz="1400" b="1">
                <a:highlight>
                  <a:srgbClr val="00FFFF"/>
                </a:highlight>
              </a:rPr>
              <a:t>SPECT (Single Photon Emission Computed Tomography)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1400" b="1">
                <a:highlight>
                  <a:srgbClr val="00FFFF"/>
                </a:highlight>
              </a:rPr>
              <a:t>PET (Positron Emission </a:t>
            </a:r>
            <a:r>
              <a:rPr lang="fr-FR" sz="1400" b="1" err="1">
                <a:highlight>
                  <a:srgbClr val="00FFFF"/>
                </a:highlight>
              </a:rPr>
              <a:t>Tomography</a:t>
            </a:r>
            <a:r>
              <a:rPr lang="fr-FR" sz="1400" b="1">
                <a:highlight>
                  <a:srgbClr val="00FFFF"/>
                </a:highlight>
              </a:rPr>
              <a:t>)</a:t>
            </a:r>
            <a:endParaRPr lang="en-US" sz="1400" b="1">
              <a:highlight>
                <a:srgbClr val="00FFFF"/>
              </a:highlight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1B78337-4D8C-1634-178C-4FCE4D86C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839" y="760679"/>
            <a:ext cx="4360767" cy="2790208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BDA3B1C-DA20-564D-F674-367703107BFA}"/>
              </a:ext>
            </a:extLst>
          </p:cNvPr>
          <p:cNvSpPr txBox="1"/>
          <p:nvPr/>
        </p:nvSpPr>
        <p:spPr>
          <a:xfrm>
            <a:off x="385108" y="976789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97C8F"/>
                </a:solidFill>
              </a:rPr>
              <a:t>Other techniques see structure :</a:t>
            </a:r>
            <a:endParaRPr lang="en-US" dirty="0">
              <a:solidFill>
                <a:srgbClr val="097C8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X-ray / CT → shape &amp; bones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MRI → soft tissue detail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D98ED72-0D87-6DF7-9E0E-51922F971F3D}"/>
              </a:ext>
            </a:extLst>
          </p:cNvPr>
          <p:cNvSpPr txBox="1"/>
          <p:nvPr/>
        </p:nvSpPr>
        <p:spPr>
          <a:xfrm>
            <a:off x="9341162" y="3591953"/>
            <a:ext cx="123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3501417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CE74-EAC0-53CB-1F4F-AB7AAF5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4E09EB0-18B2-D282-7E7F-8DC71A28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A0F5F0-3E1B-86D9-C033-5C3250F9C43B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B7F23A-834B-3861-5C43-9BC542193A0A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5B0C1-3F1E-7C65-3C84-1EBA39AC8B90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fr-FR" sz="2400" b="1">
              <a:solidFill>
                <a:schemeClr val="bg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0E88824-C0A6-B44E-21AB-B79F7EC78F2E}"/>
              </a:ext>
            </a:extLst>
          </p:cNvPr>
          <p:cNvSpPr txBox="1"/>
          <p:nvPr/>
        </p:nvSpPr>
        <p:spPr>
          <a:xfrm>
            <a:off x="469704" y="785395"/>
            <a:ext cx="32450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err="1">
                <a:solidFill>
                  <a:srgbClr val="097C8F"/>
                </a:solidFill>
              </a:rPr>
              <a:t>Scintigraphy</a:t>
            </a:r>
            <a:r>
              <a:rPr lang="fr-FR" sz="1600" b="1">
                <a:solidFill>
                  <a:srgbClr val="097C8F"/>
                </a:solidFill>
              </a:rPr>
              <a:t> 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/>
              <a:t>Latin </a:t>
            </a:r>
            <a:r>
              <a:rPr lang="fr-FR" sz="1600" b="1" i="1"/>
              <a:t>scintilla</a:t>
            </a:r>
            <a:r>
              <a:rPr lang="fr-FR" sz="1600" b="1"/>
              <a:t> </a:t>
            </a:r>
            <a:r>
              <a:rPr lang="fr-FR" sz="1600" b="1" err="1"/>
              <a:t>meaning</a:t>
            </a:r>
            <a:r>
              <a:rPr lang="fr-FR" sz="1600" b="1"/>
              <a:t> </a:t>
            </a:r>
            <a:r>
              <a:rPr lang="fr-FR" sz="1600" b="1" err="1"/>
              <a:t>spark</a:t>
            </a:r>
            <a:r>
              <a:rPr lang="fr-FR" sz="1600" b="1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Oldest and simplest</a:t>
            </a:r>
            <a:r>
              <a:rPr lang="en-US" sz="16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flat, 2D image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CB8ECEB-7310-D221-E7FD-168BFB50C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018" y="812149"/>
            <a:ext cx="3383081" cy="2592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610F1B4-A5BA-0ED1-DFE7-DCEE13038E9B}"/>
              </a:ext>
            </a:extLst>
          </p:cNvPr>
          <p:cNvSpPr txBox="1"/>
          <p:nvPr/>
        </p:nvSpPr>
        <p:spPr>
          <a:xfrm>
            <a:off x="469704" y="1978238"/>
            <a:ext cx="2369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97C8F"/>
                </a:solidFill>
              </a:rPr>
              <a:t>a) The </a:t>
            </a:r>
            <a:r>
              <a:rPr lang="fr-FR" b="1" u="sng" err="1">
                <a:solidFill>
                  <a:srgbClr val="097C8F"/>
                </a:solidFill>
              </a:rPr>
              <a:t>Radiotracer</a:t>
            </a:r>
            <a:r>
              <a:rPr lang="fr-FR" b="1" u="sng">
                <a:solidFill>
                  <a:srgbClr val="097C8F"/>
                </a:solidFill>
              </a:rPr>
              <a:t>:</a:t>
            </a:r>
            <a:endParaRPr lang="en-US" b="1" u="sng">
              <a:solidFill>
                <a:srgbClr val="097C8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4592A12-64BF-07D5-019E-CFCA4DAF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643" y="4000256"/>
            <a:ext cx="1444060" cy="2054175"/>
          </a:xfrm>
          <a:prstGeom prst="rect">
            <a:avLst/>
          </a:prstGeom>
        </p:spPr>
      </p:pic>
      <p:pic>
        <p:nvPicPr>
          <p:cNvPr id="11" name="Picture 2" descr="30+ Tc Energy Foto Stok, Potret, &amp; Gambar Bebas Royalti - iStock">
            <a:extLst>
              <a:ext uri="{FF2B5EF4-FFF2-40B4-BE49-F238E27FC236}">
                <a16:creationId xmlns:a16="http://schemas.microsoft.com/office/drawing/2014/main" id="{662C5EF0-E688-CEE7-0E4A-0EF44084A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247" y="3671105"/>
            <a:ext cx="2712478" cy="27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421DFAC-78A4-0A9C-62AA-F8DFAE8E579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58054" y="4724807"/>
            <a:ext cx="2418252" cy="153784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C694780-4BD0-BD44-B47F-9BE0357D784B}"/>
              </a:ext>
            </a:extLst>
          </p:cNvPr>
          <p:cNvSpPr txBox="1"/>
          <p:nvPr/>
        </p:nvSpPr>
        <p:spPr>
          <a:xfrm>
            <a:off x="4079780" y="3250617"/>
            <a:ext cx="4235937" cy="103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The radioactive atom</a:t>
            </a:r>
            <a:r>
              <a:rPr lang="en-US" sz="1400"/>
              <a:t> (called a radionuclide or radioisotope) is attached to the carrier. Its job is to </a:t>
            </a:r>
            <a:r>
              <a:rPr lang="en-US" sz="1400" b="1"/>
              <a:t>emit gamma rays</a:t>
            </a:r>
            <a:r>
              <a:rPr lang="en-US" sz="1400"/>
              <a:t> so the detector can find it.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AEEEB6C-0B3A-F79E-0DC1-DC6FA2E9F2EC}"/>
              </a:ext>
            </a:extLst>
          </p:cNvPr>
          <p:cNvSpPr txBox="1"/>
          <p:nvPr/>
        </p:nvSpPr>
        <p:spPr>
          <a:xfrm>
            <a:off x="1336842" y="2512880"/>
            <a:ext cx="522886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fr-FR" sz="1800" err="1"/>
              <a:t>Radiotracer</a:t>
            </a:r>
            <a:r>
              <a:rPr lang="fr-FR" sz="1800"/>
              <a:t> = Carrier </a:t>
            </a:r>
            <a:r>
              <a:rPr lang="fr-FR" sz="1800" err="1"/>
              <a:t>molecule</a:t>
            </a:r>
            <a:r>
              <a:rPr lang="fr-FR" sz="1800"/>
              <a:t> + Radioactive </a:t>
            </a:r>
            <a:r>
              <a:rPr lang="fr-FR" sz="1800" err="1"/>
              <a:t>atom</a:t>
            </a:r>
            <a:endParaRPr lang="en-US" sz="18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8B0D05E-F2A2-F90D-821A-29A79EF86B9C}"/>
              </a:ext>
            </a:extLst>
          </p:cNvPr>
          <p:cNvSpPr txBox="1"/>
          <p:nvPr/>
        </p:nvSpPr>
        <p:spPr>
          <a:xfrm>
            <a:off x="687207" y="3232437"/>
            <a:ext cx="4135467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Carrier : sugar, hormone, antibody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Targets a specific organ</a:t>
            </a:r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4B6EB4CF-0645-D809-7157-299C418EA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52363"/>
              </p:ext>
            </p:extLst>
          </p:nvPr>
        </p:nvGraphicFramePr>
        <p:xfrm>
          <a:off x="707346" y="4547374"/>
          <a:ext cx="3372434" cy="195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86217">
                  <a:extLst>
                    <a:ext uri="{9D8B030D-6E8A-4147-A177-3AD203B41FA5}">
                      <a16:colId xmlns:a16="http://schemas.microsoft.com/office/drawing/2014/main" val="3297718886"/>
                    </a:ext>
                  </a:extLst>
                </a:gridCol>
                <a:gridCol w="1686217">
                  <a:extLst>
                    <a:ext uri="{9D8B030D-6E8A-4147-A177-3AD203B41FA5}">
                      <a16:colId xmlns:a16="http://schemas.microsoft.com/office/drawing/2014/main" val="2386425531"/>
                    </a:ext>
                  </a:extLst>
                </a:gridCol>
              </a:tblGrid>
              <a:tr h="19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err="1"/>
                        <a:t>property</a:t>
                      </a:r>
                      <a:endParaRPr lang="fr-F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410425"/>
                  </a:ext>
                </a:extLst>
              </a:tr>
              <a:tr h="352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Type of </a:t>
                      </a:r>
                      <a:r>
                        <a:rPr lang="fr-FR" sz="1400" b="1" err="1"/>
                        <a:t>emission</a:t>
                      </a:r>
                      <a:endParaRPr lang="fr-F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Gamma rays </a:t>
                      </a:r>
                      <a:r>
                        <a:rPr lang="fr-FR" sz="1400" err="1"/>
                        <a:t>only</a:t>
                      </a:r>
                      <a:r>
                        <a:rPr lang="fr-FR" sz="1400"/>
                        <a:t> (140 keV)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016883"/>
                  </a:ext>
                </a:extLst>
              </a:tr>
              <a:tr h="19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Half-life</a:t>
                      </a:r>
                      <a:endParaRPr lang="fr-F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6 </a:t>
                      </a:r>
                      <a:r>
                        <a:rPr lang="fr-FR" sz="1400" err="1"/>
                        <a:t>hours</a:t>
                      </a:r>
                      <a:endParaRPr lang="fr-F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876397"/>
                  </a:ext>
                </a:extLst>
              </a:tr>
              <a:tr h="19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Energy</a:t>
                      </a:r>
                      <a:endParaRPr lang="fr-F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140 keV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307403"/>
                  </a:ext>
                </a:extLst>
              </a:tr>
              <a:tr h="352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Production</a:t>
                      </a:r>
                      <a:endParaRPr lang="fr-F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From a Mo-99/Tc-99m generator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5654"/>
                  </a:ext>
                </a:extLst>
              </a:tr>
            </a:tbl>
          </a:graphicData>
        </a:graphic>
      </p:graphicFrame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853107D-180F-09D9-1D53-1031A1F1D4A8}"/>
              </a:ext>
            </a:extLst>
          </p:cNvPr>
          <p:cNvCxnSpPr/>
          <p:nvPr/>
        </p:nvCxnSpPr>
        <p:spPr>
          <a:xfrm>
            <a:off x="5406309" y="2907183"/>
            <a:ext cx="791439" cy="46170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C2C8EA42-76E3-CAC2-D401-A4E56A789248}"/>
              </a:ext>
            </a:extLst>
          </p:cNvPr>
          <p:cNvCxnSpPr/>
          <p:nvPr/>
        </p:nvCxnSpPr>
        <p:spPr>
          <a:xfrm flipH="1">
            <a:off x="2039843" y="2889498"/>
            <a:ext cx="1643605" cy="41944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AC97DF3-58FB-5B89-96CE-6CA0E70BF0BC}"/>
              </a:ext>
            </a:extLst>
          </p:cNvPr>
          <p:cNvSpPr txBox="1"/>
          <p:nvPr/>
        </p:nvSpPr>
        <p:spPr>
          <a:xfrm>
            <a:off x="469704" y="-157639"/>
            <a:ext cx="6096000" cy="72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A)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Planar</a:t>
            </a: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Scintigraphy</a:t>
            </a:r>
            <a:endParaRPr lang="fr-FR" sz="2400" b="1">
              <a:solidFill>
                <a:schemeClr val="bg1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8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0CEE-2F62-8FD9-3CEE-FDDFA2E2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45FDDBA-84E5-ED11-262D-955879241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3E1258-6CCE-DFF9-10F1-3F99465091D3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3B2492-B5AF-25F7-277F-4CFFCCBEB769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2967F-E1A3-45F6-D35F-B8B3EE220F64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FBD2824-D2B3-4591-D742-4B75D792D1E7}"/>
              </a:ext>
            </a:extLst>
          </p:cNvPr>
          <p:cNvSpPr txBox="1"/>
          <p:nvPr/>
        </p:nvSpPr>
        <p:spPr>
          <a:xfrm>
            <a:off x="369432" y="4293847"/>
            <a:ext cx="3596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>
                <a:solidFill>
                  <a:srgbClr val="058593"/>
                </a:solidFill>
              </a:rPr>
              <a:t>Layer 2:  </a:t>
            </a:r>
            <a:r>
              <a:rPr lang="en-US" b="1" err="1">
                <a:solidFill>
                  <a:srgbClr val="058593"/>
                </a:solidFill>
              </a:rPr>
              <a:t>NaI</a:t>
            </a:r>
            <a:r>
              <a:rPr lang="en-US" b="1">
                <a:solidFill>
                  <a:srgbClr val="058593"/>
                </a:solidFill>
              </a:rPr>
              <a:t>(Tl) Crystal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γ ray → 1,000–3,000 light flashes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Scintillation principle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883893-26D0-556B-7078-9C3A30D4548B}"/>
              </a:ext>
            </a:extLst>
          </p:cNvPr>
          <p:cNvSpPr txBox="1"/>
          <p:nvPr/>
        </p:nvSpPr>
        <p:spPr>
          <a:xfrm>
            <a:off x="4174987" y="3595235"/>
            <a:ext cx="34397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Anger Logic </a:t>
            </a:r>
            <a:r>
              <a:rPr lang="en-US" b="1" i="1">
                <a:solidFill>
                  <a:schemeClr val="accent2">
                    <a:lumMod val="75000"/>
                  </a:schemeClr>
                </a:solidFill>
              </a:rPr>
              <a:t>(1958)</a:t>
            </a:r>
            <a:endParaRPr lang="en-US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PMT gets different light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Position calculated by weighted average </a:t>
            </a:r>
            <a:r>
              <a:rPr lang="en-US" b="1"/>
              <a:t>X = Σ(Sᵢ · xᵢ) / ΣSᵢ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Millions of dots → 2D map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8E4301A-236E-A71C-04D7-3579F5481667}"/>
              </a:ext>
            </a:extLst>
          </p:cNvPr>
          <p:cNvSpPr txBox="1"/>
          <p:nvPr/>
        </p:nvSpPr>
        <p:spPr>
          <a:xfrm>
            <a:off x="406664" y="5446767"/>
            <a:ext cx="3596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i="1">
                <a:solidFill>
                  <a:srgbClr val="058593"/>
                </a:solidFill>
              </a:rPr>
              <a:t>Layer 3:  </a:t>
            </a:r>
            <a:r>
              <a:rPr lang="fr-FR" b="1" i="1" err="1">
                <a:solidFill>
                  <a:srgbClr val="058593"/>
                </a:solidFill>
              </a:rPr>
              <a:t>PMTs</a:t>
            </a:r>
            <a:r>
              <a:rPr lang="fr-FR" b="1" i="1">
                <a:solidFill>
                  <a:srgbClr val="058593"/>
                </a:solidFill>
              </a:rPr>
              <a:t> (37–91 tubes</a:t>
            </a:r>
            <a:r>
              <a:rPr lang="fr-FR" i="1"/>
              <a:t>)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Light → </a:t>
            </a:r>
            <a:r>
              <a:rPr lang="fr-FR" err="1"/>
              <a:t>electrical</a:t>
            </a:r>
            <a:r>
              <a:rPr lang="fr-FR"/>
              <a:t>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Amplification ×1,000,000</a:t>
            </a:r>
          </a:p>
        </p:txBody>
      </p:sp>
      <p:pic>
        <p:nvPicPr>
          <p:cNvPr id="10" name="Picture 2" descr="Medical Imaging and Diagnostics · Physics">
            <a:extLst>
              <a:ext uri="{FF2B5EF4-FFF2-40B4-BE49-F238E27FC236}">
                <a16:creationId xmlns:a16="http://schemas.microsoft.com/office/drawing/2014/main" id="{A99E8B11-35FD-12D9-4C31-5041B2952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93" y="691465"/>
            <a:ext cx="5587907" cy="318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276A810-9C8F-AA0A-DEE9-B262244D6757}"/>
              </a:ext>
            </a:extLst>
          </p:cNvPr>
          <p:cNvSpPr txBox="1"/>
          <p:nvPr/>
        </p:nvSpPr>
        <p:spPr>
          <a:xfrm>
            <a:off x="8136287" y="4432897"/>
            <a:ext cx="4464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Limitations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2D only : no depth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Attenuation : deep = weak signal</a:t>
            </a:r>
          </a:p>
          <a:p>
            <a:r>
              <a:rPr lang="en-US"/>
              <a:t>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3F916D-D53C-BFCC-89E9-6C06B9B2B2B9}"/>
              </a:ext>
            </a:extLst>
          </p:cNvPr>
          <p:cNvSpPr txBox="1"/>
          <p:nvPr/>
        </p:nvSpPr>
        <p:spPr>
          <a:xfrm>
            <a:off x="500138" y="783960"/>
            <a:ext cx="4476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solidFill>
                  <a:srgbClr val="097C8F"/>
                </a:solidFill>
              </a:rPr>
              <a:t>b) </a:t>
            </a:r>
            <a:r>
              <a:rPr lang="it-IT" sz="1800" b="1">
                <a:solidFill>
                  <a:srgbClr val="097C8F"/>
                </a:solidFill>
              </a:rPr>
              <a:t>The Gamma Camera (Anger Camera):</a:t>
            </a:r>
            <a:endParaRPr lang="en-US" sz="1400" b="1">
              <a:solidFill>
                <a:srgbClr val="097C8F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FF0A4C-5EA8-42DB-2D2C-8E2FD566EB76}"/>
              </a:ext>
            </a:extLst>
          </p:cNvPr>
          <p:cNvSpPr txBox="1"/>
          <p:nvPr/>
        </p:nvSpPr>
        <p:spPr>
          <a:xfrm>
            <a:off x="570270" y="1413711"/>
            <a:ext cx="404105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/>
              <a:t>Radiotracer  emits gamma rays in </a:t>
            </a:r>
            <a:r>
              <a:rPr lang="en-US" sz="1400" b="1"/>
              <a:t>all directions</a:t>
            </a:r>
            <a:r>
              <a:rPr lang="en-US" sz="1400"/>
              <a:t>. The gamma camera must:</a:t>
            </a:r>
          </a:p>
          <a:p>
            <a:pPr>
              <a:buFont typeface="+mj-lt"/>
              <a:buAutoNum type="arabicPeriod"/>
            </a:pPr>
            <a:r>
              <a:rPr lang="en-US" sz="1400" b="1"/>
              <a:t>Capture</a:t>
            </a:r>
            <a:r>
              <a:rPr lang="en-US" sz="1400"/>
              <a:t> those gamma rays</a:t>
            </a:r>
          </a:p>
          <a:p>
            <a:pPr>
              <a:buFont typeface="+mj-lt"/>
              <a:buAutoNum type="arabicPeriod"/>
            </a:pPr>
            <a:r>
              <a:rPr lang="en-US" sz="1400" b="1"/>
              <a:t>Determine where</a:t>
            </a:r>
            <a:r>
              <a:rPr lang="en-US" sz="1400"/>
              <a:t> each gamma ray came from</a:t>
            </a:r>
          </a:p>
          <a:p>
            <a:pPr>
              <a:buFont typeface="+mj-lt"/>
              <a:buAutoNum type="arabicPeriod"/>
            </a:pPr>
            <a:r>
              <a:rPr lang="en-US" sz="1400" b="1"/>
              <a:t>Build a 2D image</a:t>
            </a:r>
            <a:r>
              <a:rPr lang="en-US" sz="1400"/>
              <a:t> from all those data points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13EAB6C-0018-7CD8-C954-2158829DB154}"/>
              </a:ext>
            </a:extLst>
          </p:cNvPr>
          <p:cNvSpPr/>
          <p:nvPr/>
        </p:nvSpPr>
        <p:spPr>
          <a:xfrm>
            <a:off x="336668" y="1254623"/>
            <a:ext cx="4944618" cy="1430658"/>
          </a:xfrm>
          <a:prstGeom prst="roundRect">
            <a:avLst/>
          </a:prstGeom>
          <a:noFill/>
          <a:ln w="57150">
            <a:solidFill>
              <a:srgbClr val="2CA8B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2B8342-BE3D-CF87-7515-054B39F0561A}"/>
              </a:ext>
            </a:extLst>
          </p:cNvPr>
          <p:cNvSpPr txBox="1"/>
          <p:nvPr/>
        </p:nvSpPr>
        <p:spPr>
          <a:xfrm>
            <a:off x="371529" y="-163183"/>
            <a:ext cx="6096000" cy="72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A)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Planar</a:t>
            </a: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Scintigraphy</a:t>
            </a:r>
            <a:endParaRPr lang="fr-FR" sz="2400" b="1">
              <a:solidFill>
                <a:schemeClr val="bg1"/>
              </a:solidFill>
              <a:latin typeface="Lora" pitchFamily="2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98B1558-0B35-349D-4B7E-0015CDEEC5E8}"/>
              </a:ext>
            </a:extLst>
          </p:cNvPr>
          <p:cNvSpPr/>
          <p:nvPr/>
        </p:nvSpPr>
        <p:spPr>
          <a:xfrm>
            <a:off x="8016345" y="4107584"/>
            <a:ext cx="3774063" cy="1518976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42F232A-584C-D826-3220-BC1E7EF65BDC}"/>
              </a:ext>
            </a:extLst>
          </p:cNvPr>
          <p:cNvSpPr txBox="1"/>
          <p:nvPr/>
        </p:nvSpPr>
        <p:spPr>
          <a:xfrm>
            <a:off x="369432" y="2996039"/>
            <a:ext cx="3367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i="1">
                <a:solidFill>
                  <a:srgbClr val="058593"/>
                </a:solidFill>
              </a:rPr>
              <a:t>Layer 1 :</a:t>
            </a:r>
            <a:r>
              <a:rPr lang="en-US" sz="1800" b="1" i="1">
                <a:solidFill>
                  <a:srgbClr val="058593"/>
                </a:solidFill>
              </a:rPr>
              <a:t>Collimator (lead)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Blocks 99.9% of γ 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Only perpendicular rays pass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Defines image sharpness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2B5559-E433-8549-94EF-9ACB535EEB9F}"/>
              </a:ext>
            </a:extLst>
          </p:cNvPr>
          <p:cNvSpPr/>
          <p:nvPr/>
        </p:nvSpPr>
        <p:spPr>
          <a:xfrm>
            <a:off x="336668" y="2870979"/>
            <a:ext cx="3550372" cy="3572719"/>
          </a:xfrm>
          <a:prstGeom prst="rect">
            <a:avLst/>
          </a:prstGeom>
          <a:noFill/>
          <a:ln w="28575">
            <a:solidFill>
              <a:srgbClr val="0585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6DF9FE4-5B39-A025-EBCE-033B0694E089}"/>
              </a:ext>
            </a:extLst>
          </p:cNvPr>
          <p:cNvCxnSpPr>
            <a:cxnSpLocks/>
          </p:cNvCxnSpPr>
          <p:nvPr/>
        </p:nvCxnSpPr>
        <p:spPr>
          <a:xfrm>
            <a:off x="322972" y="4196368"/>
            <a:ext cx="3564068" cy="0"/>
          </a:xfrm>
          <a:prstGeom prst="line">
            <a:avLst/>
          </a:prstGeom>
          <a:ln w="28575">
            <a:solidFill>
              <a:srgbClr val="05859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64F4AE6-EE99-9E33-035F-DF750C7EA280}"/>
              </a:ext>
            </a:extLst>
          </p:cNvPr>
          <p:cNvCxnSpPr/>
          <p:nvPr/>
        </p:nvCxnSpPr>
        <p:spPr>
          <a:xfrm>
            <a:off x="322972" y="5302097"/>
            <a:ext cx="3564068" cy="0"/>
          </a:xfrm>
          <a:prstGeom prst="line">
            <a:avLst/>
          </a:prstGeom>
          <a:ln w="28575">
            <a:solidFill>
              <a:srgbClr val="0585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FBF85DDD-A735-1F78-59DF-E0FCCE07787A}"/>
              </a:ext>
            </a:extLst>
          </p:cNvPr>
          <p:cNvSpPr/>
          <p:nvPr/>
        </p:nvSpPr>
        <p:spPr>
          <a:xfrm>
            <a:off x="4073492" y="3441869"/>
            <a:ext cx="3596831" cy="2373039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6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4AD14-843C-778E-F948-2098F6F6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422B87E-8DFE-906C-EDEB-6A9C2F604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81538-6694-066C-E7BF-1F7E89B4DAC8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83FAD-E946-92CC-0C36-203458D78C01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A37BA7-D93E-4389-211F-B77D62B5DCBF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6D5CB16-56EF-611B-D5C0-BE3BB575631C}"/>
              </a:ext>
            </a:extLst>
          </p:cNvPr>
          <p:cNvSpPr txBox="1"/>
          <p:nvPr/>
        </p:nvSpPr>
        <p:spPr>
          <a:xfrm>
            <a:off x="570270" y="863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SPECT takes scintigraphy and adds </a:t>
            </a:r>
            <a:r>
              <a:rPr lang="en-US" b="1"/>
              <a:t>3D reconstruction</a:t>
            </a:r>
            <a:r>
              <a:rPr lang="en-US"/>
              <a:t>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F6BEF4-8F55-3544-7138-F702CA247416}"/>
              </a:ext>
            </a:extLst>
          </p:cNvPr>
          <p:cNvSpPr txBox="1"/>
          <p:nvPr/>
        </p:nvSpPr>
        <p:spPr>
          <a:xfrm>
            <a:off x="570270" y="13376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/>
              <a:t>SPECT = </a:t>
            </a:r>
            <a:r>
              <a:rPr lang="fr-FR" b="1" err="1"/>
              <a:t>Scintigraphy</a:t>
            </a:r>
            <a:r>
              <a:rPr lang="fr-FR" b="1"/>
              <a:t> + Rotation + Math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A7FC18-0C90-A474-7B9F-BCAD3927B1F0}"/>
              </a:ext>
            </a:extLst>
          </p:cNvPr>
          <p:cNvSpPr txBox="1"/>
          <p:nvPr/>
        </p:nvSpPr>
        <p:spPr>
          <a:xfrm>
            <a:off x="530940" y="18262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highlight>
                  <a:srgbClr val="B1ECED"/>
                </a:highlight>
              </a:rPr>
              <a:t>How SPECT Works ?</a:t>
            </a:r>
            <a:endParaRPr lang="en-US" sz="2400" b="1">
              <a:highlight>
                <a:srgbClr val="B1ECED"/>
              </a:highligh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3462016-087F-FE7B-F392-DB4DD25513D7}"/>
              </a:ext>
            </a:extLst>
          </p:cNvPr>
          <p:cNvSpPr txBox="1"/>
          <p:nvPr/>
        </p:nvSpPr>
        <p:spPr>
          <a:xfrm>
            <a:off x="412953" y="24711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err="1">
                <a:solidFill>
                  <a:schemeClr val="accent2"/>
                </a:solidFill>
              </a:rPr>
              <a:t>Step</a:t>
            </a:r>
            <a:r>
              <a:rPr lang="fr-FR" b="1">
                <a:solidFill>
                  <a:schemeClr val="accent2"/>
                </a:solidFill>
              </a:rPr>
              <a:t> 1: </a:t>
            </a:r>
            <a:r>
              <a:rPr lang="fr-FR" b="1" err="1">
                <a:solidFill>
                  <a:schemeClr val="accent2"/>
                </a:solidFill>
              </a:rPr>
              <a:t>Rotating</a:t>
            </a:r>
            <a:r>
              <a:rPr lang="fr-FR" b="1">
                <a:solidFill>
                  <a:schemeClr val="accent2"/>
                </a:solidFill>
              </a:rPr>
              <a:t> the Camera</a:t>
            </a:r>
            <a:endParaRPr lang="en-US" b="1">
              <a:solidFill>
                <a:schemeClr val="accent2"/>
              </a:solidFill>
            </a:endParaRPr>
          </a:p>
        </p:txBody>
      </p:sp>
      <p:pic>
        <p:nvPicPr>
          <p:cNvPr id="10" name="Picture 2" descr="Pin on Quick saves">
            <a:extLst>
              <a:ext uri="{FF2B5EF4-FFF2-40B4-BE49-F238E27FC236}">
                <a16:creationId xmlns:a16="http://schemas.microsoft.com/office/drawing/2014/main" id="{23C4AE20-4DF2-0549-0A7B-6711AC12A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64" y="3877198"/>
            <a:ext cx="3326763" cy="269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E7919E5-7A6E-B9CF-22F7-4953CB7954A3}"/>
              </a:ext>
            </a:extLst>
          </p:cNvPr>
          <p:cNvSpPr txBox="1"/>
          <p:nvPr/>
        </p:nvSpPr>
        <p:spPr>
          <a:xfrm>
            <a:off x="491611" y="2967199"/>
            <a:ext cx="4670324" cy="795539"/>
          </a:xfrm>
          <a:prstGeom prst="rect">
            <a:avLst/>
          </a:prstGeom>
          <a:solidFill>
            <a:srgbClr val="097C8F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Camera rotates </a:t>
            </a:r>
            <a:r>
              <a:rPr lang="en-US" sz="1600" b="1">
                <a:solidFill>
                  <a:schemeClr val="bg1"/>
                </a:solidFill>
              </a:rPr>
              <a:t>360°</a:t>
            </a:r>
            <a:r>
              <a:rPr lang="en-US" sz="1600">
                <a:solidFill>
                  <a:schemeClr val="bg1"/>
                </a:solidFill>
              </a:rPr>
              <a:t> around patient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Takes </a:t>
            </a:r>
            <a:r>
              <a:rPr lang="en-US" sz="1600" b="1">
                <a:solidFill>
                  <a:schemeClr val="bg1"/>
                </a:solidFill>
              </a:rPr>
              <a:t>60–120 projections</a:t>
            </a:r>
            <a:r>
              <a:rPr lang="en-US" sz="1600">
                <a:solidFill>
                  <a:schemeClr val="bg1"/>
                </a:solidFill>
              </a:rPr>
              <a:t> at every angle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4867B70-33A0-03AA-86FF-BCD3A043C75C}"/>
              </a:ext>
            </a:extLst>
          </p:cNvPr>
          <p:cNvSpPr txBox="1"/>
          <p:nvPr/>
        </p:nvSpPr>
        <p:spPr>
          <a:xfrm>
            <a:off x="5811728" y="2410646"/>
            <a:ext cx="6808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>
                <a:solidFill>
                  <a:schemeClr val="accent2"/>
                </a:solidFill>
              </a:rPr>
              <a:t> </a:t>
            </a:r>
            <a:r>
              <a:rPr lang="fr-FR" b="1" err="1">
                <a:solidFill>
                  <a:schemeClr val="accent2"/>
                </a:solidFill>
              </a:rPr>
              <a:t>Step</a:t>
            </a:r>
            <a:r>
              <a:rPr lang="fr-FR" b="1">
                <a:solidFill>
                  <a:schemeClr val="accent2"/>
                </a:solidFill>
              </a:rPr>
              <a:t> 2 :</a:t>
            </a:r>
            <a:r>
              <a:rPr lang="fr-FR" sz="1800" b="1">
                <a:solidFill>
                  <a:schemeClr val="accent2"/>
                </a:solidFill>
              </a:rPr>
              <a:t> Reconstruction (</a:t>
            </a:r>
            <a:r>
              <a:rPr lang="en-US">
                <a:solidFill>
                  <a:schemeClr val="accent2"/>
                </a:solidFill>
              </a:rPr>
              <a:t>algorithms</a:t>
            </a:r>
            <a:r>
              <a:rPr lang="en-US"/>
              <a:t> </a:t>
            </a:r>
            <a:r>
              <a:rPr lang="fr-FR" sz="1800" b="1">
                <a:solidFill>
                  <a:schemeClr val="accent2"/>
                </a:solidFill>
              </a:rPr>
              <a:t>)</a:t>
            </a:r>
            <a:endParaRPr lang="en-US" sz="1800" b="1">
              <a:solidFill>
                <a:schemeClr val="accent2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3301B1F-58B6-AC79-E884-9916C933B482}"/>
              </a:ext>
            </a:extLst>
          </p:cNvPr>
          <p:cNvSpPr txBox="1"/>
          <p:nvPr/>
        </p:nvSpPr>
        <p:spPr>
          <a:xfrm>
            <a:off x="5811728" y="2884687"/>
            <a:ext cx="6312312" cy="830997"/>
          </a:xfrm>
          <a:prstGeom prst="rect">
            <a:avLst/>
          </a:prstGeom>
          <a:solidFill>
            <a:srgbClr val="097C8F"/>
          </a:solidFill>
        </p:spPr>
        <p:txBody>
          <a:bodyPr wrap="square">
            <a:spAutoFit/>
          </a:bodyPr>
          <a:lstStyle/>
          <a:p>
            <a:r>
              <a:rPr lang="fr-FR" sz="1600" b="1">
                <a:solidFill>
                  <a:schemeClr val="bg1"/>
                </a:solidFill>
              </a:rPr>
              <a:t>FBP</a:t>
            </a:r>
            <a:r>
              <a:rPr lang="fr-FR" sz="1600">
                <a:solidFill>
                  <a:schemeClr val="bg1"/>
                </a:solidFill>
              </a:rPr>
              <a:t> : </a:t>
            </a:r>
            <a:r>
              <a:rPr lang="fr-FR" sz="1600" err="1">
                <a:solidFill>
                  <a:schemeClr val="bg1"/>
                </a:solidFill>
              </a:rPr>
              <a:t>Filtered</a:t>
            </a:r>
            <a:r>
              <a:rPr lang="fr-FR" sz="1600">
                <a:solidFill>
                  <a:schemeClr val="bg1"/>
                </a:solidFill>
              </a:rPr>
              <a:t> Back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err="1">
                <a:solidFill>
                  <a:schemeClr val="bg1"/>
                </a:solidFill>
              </a:rPr>
              <a:t>Projects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shadows</a:t>
            </a:r>
            <a:r>
              <a:rPr lang="fr-FR" sz="1600">
                <a:solidFill>
                  <a:schemeClr val="bg1"/>
                </a:solidFill>
              </a:rPr>
              <a:t> back </a:t>
            </a:r>
            <a:r>
              <a:rPr lang="fr-FR" sz="1600" err="1">
                <a:solidFill>
                  <a:schemeClr val="bg1"/>
                </a:solidFill>
              </a:rPr>
              <a:t>from</a:t>
            </a:r>
            <a:r>
              <a:rPr lang="fr-FR" sz="1600">
                <a:solidFill>
                  <a:schemeClr val="bg1"/>
                </a:solidFill>
              </a:rPr>
              <a:t> all angles → </a:t>
            </a:r>
            <a:r>
              <a:rPr lang="fr-FR" sz="1600" err="1">
                <a:solidFill>
                  <a:schemeClr val="bg1"/>
                </a:solidFill>
              </a:rPr>
              <a:t>overlap</a:t>
            </a:r>
            <a:r>
              <a:rPr lang="fr-FR" sz="1600">
                <a:solidFill>
                  <a:schemeClr val="bg1"/>
                </a:solidFill>
              </a:rPr>
              <a:t> = </a:t>
            </a:r>
            <a:r>
              <a:rPr lang="fr-FR" sz="1600" err="1">
                <a:solidFill>
                  <a:schemeClr val="bg1"/>
                </a:solidFill>
              </a:rPr>
              <a:t>object</a:t>
            </a:r>
            <a:r>
              <a:rPr lang="fr-FR" sz="1600">
                <a:solidFill>
                  <a:schemeClr val="bg1"/>
                </a:solidFill>
              </a:rPr>
              <a:t>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>
                <a:solidFill>
                  <a:schemeClr val="bg1"/>
                </a:solidFill>
              </a:rPr>
              <a:t>Fast but </a:t>
            </a:r>
            <a:r>
              <a:rPr lang="fr-FR" sz="1600" b="1">
                <a:solidFill>
                  <a:schemeClr val="bg1"/>
                </a:solidFill>
              </a:rPr>
              <a:t>noise-sensitive</a:t>
            </a:r>
            <a:r>
              <a:rPr lang="fr-FR" sz="1600">
                <a:solidFill>
                  <a:schemeClr val="bg1"/>
                </a:solidFill>
              </a:rPr>
              <a:t> → </a:t>
            </a:r>
            <a:r>
              <a:rPr lang="fr-FR" sz="1600" err="1">
                <a:solidFill>
                  <a:schemeClr val="bg1"/>
                </a:solidFill>
              </a:rPr>
              <a:t>streak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artifacts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E811099-5D38-F8C3-F25C-123491B25864}"/>
              </a:ext>
            </a:extLst>
          </p:cNvPr>
          <p:cNvSpPr txBox="1"/>
          <p:nvPr/>
        </p:nvSpPr>
        <p:spPr>
          <a:xfrm>
            <a:off x="5811728" y="3799643"/>
            <a:ext cx="6312312" cy="830997"/>
          </a:xfrm>
          <a:prstGeom prst="rect">
            <a:avLst/>
          </a:prstGeom>
          <a:solidFill>
            <a:srgbClr val="097C8F"/>
          </a:solidFill>
        </p:spPr>
        <p:txBody>
          <a:bodyPr wrap="square">
            <a:spAutoFit/>
          </a:bodyPr>
          <a:lstStyle/>
          <a:p>
            <a:r>
              <a:rPr lang="fr-FR" sz="1600" b="1">
                <a:solidFill>
                  <a:schemeClr val="bg1"/>
                </a:solidFill>
              </a:rPr>
              <a:t>OSEM</a:t>
            </a:r>
            <a:r>
              <a:rPr lang="fr-FR" sz="1600">
                <a:solidFill>
                  <a:schemeClr val="bg1"/>
                </a:solidFill>
              </a:rPr>
              <a:t> : </a:t>
            </a:r>
            <a:r>
              <a:rPr lang="fr-FR" sz="1600" err="1">
                <a:solidFill>
                  <a:schemeClr val="bg1"/>
                </a:solidFill>
              </a:rPr>
              <a:t>Ordered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Subset</a:t>
            </a:r>
            <a:r>
              <a:rPr lang="fr-FR" sz="1600">
                <a:solidFill>
                  <a:schemeClr val="bg1"/>
                </a:solidFill>
              </a:rPr>
              <a:t> Expectation </a:t>
            </a:r>
            <a:r>
              <a:rPr lang="fr-FR" sz="1600" err="1">
                <a:solidFill>
                  <a:schemeClr val="bg1"/>
                </a:solidFill>
              </a:rPr>
              <a:t>Maximization</a:t>
            </a:r>
            <a:endParaRPr lang="fr-FR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>
                <a:solidFill>
                  <a:schemeClr val="bg1"/>
                </a:solidFill>
              </a:rPr>
              <a:t>Starts </a:t>
            </a:r>
            <a:r>
              <a:rPr lang="fr-FR" sz="1600" err="1">
                <a:solidFill>
                  <a:schemeClr val="bg1"/>
                </a:solidFill>
              </a:rPr>
              <a:t>with</a:t>
            </a:r>
            <a:r>
              <a:rPr lang="fr-FR" sz="1600">
                <a:solidFill>
                  <a:schemeClr val="bg1"/>
                </a:solidFill>
              </a:rPr>
              <a:t> a </a:t>
            </a:r>
            <a:r>
              <a:rPr lang="fr-FR" sz="1600" err="1">
                <a:solidFill>
                  <a:schemeClr val="bg1"/>
                </a:solidFill>
              </a:rPr>
              <a:t>guess</a:t>
            </a:r>
            <a:r>
              <a:rPr lang="fr-FR" sz="1600">
                <a:solidFill>
                  <a:schemeClr val="bg1"/>
                </a:solidFill>
              </a:rPr>
              <a:t> → compares → </a:t>
            </a:r>
            <a:r>
              <a:rPr lang="fr-FR" sz="1600" err="1">
                <a:solidFill>
                  <a:schemeClr val="bg1"/>
                </a:solidFill>
              </a:rPr>
              <a:t>refines</a:t>
            </a:r>
            <a:r>
              <a:rPr lang="fr-FR" sz="1600">
                <a:solidFill>
                  <a:schemeClr val="bg1"/>
                </a:solidFill>
              </a:rPr>
              <a:t> </a:t>
            </a:r>
            <a:r>
              <a:rPr lang="fr-FR" sz="1600" err="1">
                <a:solidFill>
                  <a:schemeClr val="bg1"/>
                </a:solidFill>
              </a:rPr>
              <a:t>repeatedly</a:t>
            </a:r>
            <a:endParaRPr lang="fr-FR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err="1">
                <a:solidFill>
                  <a:schemeClr val="bg1"/>
                </a:solidFill>
              </a:rPr>
              <a:t>Slower</a:t>
            </a:r>
            <a:r>
              <a:rPr lang="fr-FR" sz="1600">
                <a:solidFill>
                  <a:schemeClr val="bg1"/>
                </a:solidFill>
              </a:rPr>
              <a:t> but </a:t>
            </a:r>
            <a:r>
              <a:rPr lang="fr-FR" sz="1600" b="1" err="1">
                <a:solidFill>
                  <a:schemeClr val="bg1"/>
                </a:solidFill>
              </a:rPr>
              <a:t>cleaner</a:t>
            </a:r>
            <a:r>
              <a:rPr lang="fr-FR" sz="1600" b="1">
                <a:solidFill>
                  <a:schemeClr val="bg1"/>
                </a:solidFill>
              </a:rPr>
              <a:t> &amp; more </a:t>
            </a:r>
            <a:r>
              <a:rPr lang="fr-FR" sz="1600" b="1" err="1">
                <a:solidFill>
                  <a:schemeClr val="bg1"/>
                </a:solidFill>
              </a:rPr>
              <a:t>accurate</a:t>
            </a:r>
            <a:r>
              <a:rPr lang="fr-FR" sz="1600">
                <a:solidFill>
                  <a:schemeClr val="bg1"/>
                </a:solidFill>
              </a:rPr>
              <a:t> → modern standard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32B298-29D3-70BE-D6B3-D2EF8DF86EA9}"/>
              </a:ext>
            </a:extLst>
          </p:cNvPr>
          <p:cNvSpPr txBox="1"/>
          <p:nvPr/>
        </p:nvSpPr>
        <p:spPr>
          <a:xfrm>
            <a:off x="6012859" y="4917909"/>
            <a:ext cx="61791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>
                <a:solidFill>
                  <a:srgbClr val="097C8F"/>
                </a:solidFill>
              </a:rPr>
              <a:t>SPECT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Spatial resolution still limited (~8 to 12 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Scan time is long (15 to 45 minutes of rotation)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Sensitivity lower than PET (fewer gamma rays are detected)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Only one gamma ray per decay is detected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B412709-7216-3C8E-518D-A5A26889554F}"/>
              </a:ext>
            </a:extLst>
          </p:cNvPr>
          <p:cNvSpPr txBox="1"/>
          <p:nvPr/>
        </p:nvSpPr>
        <p:spPr>
          <a:xfrm>
            <a:off x="491611" y="-142648"/>
            <a:ext cx="8259097" cy="73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>
                <a:solidFill>
                  <a:schemeClr val="bg1"/>
                </a:solidFill>
              </a:rPr>
              <a:t>B) SPECT (Single Photon Emission Computed Tomography)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4735E-B548-09DB-F2FD-587BE9B48C30}"/>
              </a:ext>
            </a:extLst>
          </p:cNvPr>
          <p:cNvSpPr/>
          <p:nvPr/>
        </p:nvSpPr>
        <p:spPr>
          <a:xfrm>
            <a:off x="570270" y="863594"/>
            <a:ext cx="6017341" cy="815550"/>
          </a:xfrm>
          <a:prstGeom prst="roundRect">
            <a:avLst/>
          </a:prstGeom>
          <a:noFill/>
          <a:ln>
            <a:solidFill>
              <a:srgbClr val="0585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34E8632-4871-8964-B411-D3C0BEE65420}"/>
              </a:ext>
            </a:extLst>
          </p:cNvPr>
          <p:cNvSpPr/>
          <p:nvPr/>
        </p:nvSpPr>
        <p:spPr>
          <a:xfrm>
            <a:off x="5776884" y="4827843"/>
            <a:ext cx="6312312" cy="1435510"/>
          </a:xfrm>
          <a:prstGeom prst="roundRect">
            <a:avLst/>
          </a:prstGeom>
          <a:noFill/>
          <a:ln w="38100">
            <a:solidFill>
              <a:srgbClr val="0585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0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A40C-AF65-BF48-7F45-A56D4B34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33D15BB-6588-9F5D-7A38-F90A844C6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5807F-2903-B0BD-0BC8-380A066CE20E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69ADE-ECEA-4AF3-C641-B8193ABFBB0B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C8E5E-1F48-698E-B543-4764BA58E1E5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B113D9E-74E2-A847-9FE5-885A6FFFDC44}"/>
              </a:ext>
            </a:extLst>
          </p:cNvPr>
          <p:cNvSpPr txBox="1"/>
          <p:nvPr/>
        </p:nvSpPr>
        <p:spPr>
          <a:xfrm>
            <a:off x="441056" y="1149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C) PET (Positron Emission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Tomography</a:t>
            </a: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)</a:t>
            </a:r>
            <a:endParaRPr lang="en-US" sz="2400" b="1">
              <a:solidFill>
                <a:schemeClr val="bg1"/>
              </a:solidFill>
              <a:latin typeface="Lora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51A284-3063-3722-9912-B4BBE7393DE7}"/>
              </a:ext>
            </a:extLst>
          </p:cNvPr>
          <p:cNvSpPr txBox="1"/>
          <p:nvPr/>
        </p:nvSpPr>
        <p:spPr>
          <a:xfrm>
            <a:off x="501445" y="754044"/>
            <a:ext cx="5330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PET is the </a:t>
            </a:r>
            <a:r>
              <a:rPr lang="en-US" b="1"/>
              <a:t>most sensitive and highest resolution</a:t>
            </a:r>
            <a:r>
              <a:rPr lang="en-US"/>
              <a:t> form of nuclear imaging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05B5927-F2C6-1531-674D-40F04F0BFFAD}"/>
              </a:ext>
            </a:extLst>
          </p:cNvPr>
          <p:cNvSpPr txBox="1"/>
          <p:nvPr/>
        </p:nvSpPr>
        <p:spPr>
          <a:xfrm>
            <a:off x="501445" y="1463595"/>
            <a:ext cx="2764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97C8F"/>
                </a:solidFill>
              </a:rPr>
              <a:t>a) Positron Annihilation :</a:t>
            </a:r>
            <a:endParaRPr lang="en-US" b="1" u="sng">
              <a:solidFill>
                <a:srgbClr val="097C8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6D1719A-C81A-C2F1-837B-A6DC3433EC2F}"/>
              </a:ext>
            </a:extLst>
          </p:cNvPr>
          <p:cNvSpPr txBox="1"/>
          <p:nvPr/>
        </p:nvSpPr>
        <p:spPr>
          <a:xfrm>
            <a:off x="441056" y="2075329"/>
            <a:ext cx="544215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>
                <a:solidFill>
                  <a:schemeClr val="accent1"/>
                </a:solidFill>
              </a:rPr>
              <a:t>1) Positron </a:t>
            </a:r>
            <a:r>
              <a:rPr lang="fr-FR" sz="2000" b="1" err="1">
                <a:solidFill>
                  <a:schemeClr val="accent1"/>
                </a:solidFill>
              </a:rPr>
              <a:t>emission</a:t>
            </a:r>
            <a:endParaRPr lang="fr-FR" sz="2000" b="1">
              <a:solidFill>
                <a:schemeClr val="accent1"/>
              </a:solidFill>
            </a:endParaRPr>
          </a:p>
          <a:p>
            <a:r>
              <a:rPr lang="fr-FR" sz="2000"/>
              <a:t>¹⁸F → ¹⁸O + </a:t>
            </a:r>
            <a:r>
              <a:rPr lang="el-GR" sz="2000"/>
              <a:t>β⁺ + ν</a:t>
            </a:r>
            <a:r>
              <a:rPr lang="fr-FR" sz="2000"/>
              <a:t>ₑ</a:t>
            </a:r>
          </a:p>
          <a:p>
            <a:endParaRPr lang="en-US" sz="2000" b="1"/>
          </a:p>
          <a:p>
            <a:r>
              <a:rPr lang="fr-FR" sz="2000" b="1">
                <a:solidFill>
                  <a:schemeClr val="accent1"/>
                </a:solidFill>
              </a:rPr>
              <a:t>2) Annihilation</a:t>
            </a:r>
          </a:p>
          <a:p>
            <a:r>
              <a:rPr lang="en-US" sz="2000"/>
              <a:t>   </a:t>
            </a:r>
            <a:r>
              <a:rPr lang="el-GR" sz="2000"/>
              <a:t>β⁺ + </a:t>
            </a:r>
            <a:r>
              <a:rPr lang="fr-FR" sz="2000"/>
              <a:t>e⁻ → </a:t>
            </a:r>
            <a:r>
              <a:rPr lang="el-GR" sz="2000"/>
              <a:t>γ (511 </a:t>
            </a:r>
            <a:r>
              <a:rPr lang="fr-FR" sz="2000"/>
              <a:t>keV) + </a:t>
            </a:r>
            <a:r>
              <a:rPr lang="el-GR" sz="2000"/>
              <a:t>γ (511 </a:t>
            </a:r>
            <a:r>
              <a:rPr lang="fr-FR" sz="2000"/>
              <a:t>keV</a:t>
            </a:r>
            <a:r>
              <a:rPr lang="fr-FR" sz="1600"/>
              <a:t>)</a:t>
            </a:r>
            <a:endParaRPr lang="en-US" b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69341351-3C23-7B74-61BE-E396AAE855EB}"/>
                  </a:ext>
                </a:extLst>
              </p14:cNvPr>
              <p14:cNvContentPartPr/>
              <p14:nvPr/>
            </p14:nvContentPartPr>
            <p14:xfrm>
              <a:off x="11007283" y="3136498"/>
              <a:ext cx="360" cy="3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69341351-3C23-7B74-61BE-E396AAE855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44283" y="307349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7C0B6FED-65DA-17C7-E47F-F4A3DA85525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70030" y="1604099"/>
            <a:ext cx="2763049" cy="2337964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0F45756A-A3E1-9214-4C4E-C350FE5EC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5FFFF"/>
              </a:clrFrom>
              <a:clrTo>
                <a:srgbClr val="F5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490" y="4051204"/>
            <a:ext cx="2344901" cy="234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Pet Scan Machine Diagram">
            <a:extLst>
              <a:ext uri="{FF2B5EF4-FFF2-40B4-BE49-F238E27FC236}">
                <a16:creationId xmlns:a16="http://schemas.microsoft.com/office/drawing/2014/main" id="{58861A9B-D7DC-BEE6-C1BC-B9DE34C82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564" y="4394783"/>
            <a:ext cx="2845112" cy="21338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78989AE-729A-1E56-CC76-170B6FA5143D}"/>
              </a:ext>
            </a:extLst>
          </p:cNvPr>
          <p:cNvSpPr txBox="1"/>
          <p:nvPr/>
        </p:nvSpPr>
        <p:spPr>
          <a:xfrm>
            <a:off x="11007283" y="4901462"/>
            <a:ext cx="1008935" cy="122341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1050"/>
              <a:t>Figure 1 : A PET scanner is a </a:t>
            </a:r>
            <a:r>
              <a:rPr lang="en-US" sz="1050" b="1"/>
              <a:t>ring of thousands of small detector crystals</a:t>
            </a:r>
            <a:endParaRPr lang="en-US" sz="105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6B32745F-A6D9-1C43-4113-D0A7076F6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3580"/>
            <a:ext cx="6346738" cy="424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A0F74DC-14B3-9E3B-66F9-0C493AD5B4D4}"/>
              </a:ext>
            </a:extLst>
          </p:cNvPr>
          <p:cNvSpPr/>
          <p:nvPr/>
        </p:nvSpPr>
        <p:spPr>
          <a:xfrm>
            <a:off x="324465" y="726406"/>
            <a:ext cx="5771535" cy="674705"/>
          </a:xfrm>
          <a:prstGeom prst="roundRect">
            <a:avLst/>
          </a:prstGeom>
          <a:noFill/>
          <a:ln w="28575">
            <a:solidFill>
              <a:srgbClr val="097C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3006E10-7919-B736-9847-4E8ABFCAC1BC}"/>
              </a:ext>
            </a:extLst>
          </p:cNvPr>
          <p:cNvSpPr txBox="1"/>
          <p:nvPr/>
        </p:nvSpPr>
        <p:spPr>
          <a:xfrm>
            <a:off x="10634643" y="6062730"/>
            <a:ext cx="280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</a:t>
            </a:r>
            <a:endParaRPr lang="en-US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D66E82C-61E7-A396-4964-0C1554B0C379}"/>
              </a:ext>
            </a:extLst>
          </p:cNvPr>
          <p:cNvSpPr txBox="1"/>
          <p:nvPr/>
        </p:nvSpPr>
        <p:spPr>
          <a:xfrm>
            <a:off x="501445" y="4414720"/>
            <a:ext cx="5290098" cy="2031325"/>
          </a:xfrm>
          <a:prstGeom prst="rect">
            <a:avLst/>
          </a:prstGeom>
          <a:solidFill>
            <a:srgbClr val="CFF9FD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detector </a:t>
            </a:r>
            <a:r>
              <a:rPr lang="en-US" sz="1400" b="1"/>
              <a:t>A</a:t>
            </a:r>
            <a:r>
              <a:rPr lang="en-US" sz="1400"/>
              <a:t> and detector </a:t>
            </a:r>
            <a:r>
              <a:rPr lang="en-US" sz="1400" b="1"/>
              <a:t>B</a:t>
            </a:r>
            <a:r>
              <a:rPr lang="en-US" sz="1400"/>
              <a:t> both register </a:t>
            </a:r>
            <a:r>
              <a:rPr lang="en-US" sz="1400" b="1"/>
              <a:t>a 511 keV </a:t>
            </a:r>
            <a:r>
              <a:rPr lang="en-US" sz="1400"/>
              <a:t>gamma ray within ~</a:t>
            </a:r>
            <a:r>
              <a:rPr lang="en-US" sz="1400" b="1"/>
              <a:t>5–10 nanoseconds </a:t>
            </a:r>
            <a:r>
              <a:rPr lang="en-US" sz="1400"/>
              <a:t>of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system concludes: an annihilation occurred somewhere along the line connecting A and B (called a "</a:t>
            </a:r>
            <a:r>
              <a:rPr lang="en-US" sz="1400" b="1"/>
              <a:t>line of response</a:t>
            </a:r>
            <a:r>
              <a:rPr lang="en-US" sz="1400"/>
              <a:t>" or LOR)This is recorded as </a:t>
            </a:r>
            <a:r>
              <a:rPr lang="en-US" sz="1400" b="1"/>
              <a:t>one valid event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By recording </a:t>
            </a:r>
            <a:r>
              <a:rPr lang="en-US" sz="1400" b="1"/>
              <a:t>millions of LORs </a:t>
            </a:r>
            <a:r>
              <a:rPr lang="en-US" sz="1400"/>
              <a:t>from all directions around the 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computer can use the same </a:t>
            </a:r>
            <a:r>
              <a:rPr lang="en-US" sz="1400" b="1"/>
              <a:t>tomographic reconstruction algorithms</a:t>
            </a:r>
            <a:r>
              <a:rPr lang="en-US" sz="1400"/>
              <a:t> (OSEM) as SPECT to build a 3D image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C4EAAEB-FE9B-5FDC-9BD0-0ED0DBCDA623}"/>
              </a:ext>
            </a:extLst>
          </p:cNvPr>
          <p:cNvSpPr txBox="1"/>
          <p:nvPr/>
        </p:nvSpPr>
        <p:spPr>
          <a:xfrm>
            <a:off x="447439" y="3962818"/>
            <a:ext cx="591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58593"/>
                </a:solidFill>
              </a:rPr>
              <a:t>b)  The PET Detector Ring , Coincidence Detection</a:t>
            </a:r>
          </a:p>
        </p:txBody>
      </p:sp>
    </p:spTree>
    <p:extLst>
      <p:ext uri="{BB962C8B-B14F-4D97-AF65-F5344CB8AC3E}">
        <p14:creationId xmlns:p14="http://schemas.microsoft.com/office/powerpoint/2010/main" val="1784017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617B-BD33-BA66-2E19-96417D7C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6DC770E-F8CB-9B36-9C4D-4F3DEFBF6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CF0B0-EFD7-AC71-9493-AAD16642FFF2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9E865-D1C2-22DC-93AF-8B996C4A15CB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69920-D0AC-413A-E191-E753CF59B311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23B576-2A5F-C822-B6DF-6DAD4884B735}"/>
              </a:ext>
            </a:extLst>
          </p:cNvPr>
          <p:cNvSpPr txBox="1"/>
          <p:nvPr/>
        </p:nvSpPr>
        <p:spPr>
          <a:xfrm>
            <a:off x="362710" y="790636"/>
            <a:ext cx="6444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58593"/>
                </a:solidFill>
              </a:rPr>
              <a:t>c) The Key Radiotracer :  ¹⁸F-FDG (</a:t>
            </a:r>
            <a:r>
              <a:rPr lang="fr-FR" b="1" err="1">
                <a:solidFill>
                  <a:srgbClr val="058593"/>
                </a:solidFill>
              </a:rPr>
              <a:t>fluorodeoxyglucose</a:t>
            </a:r>
            <a:r>
              <a:rPr lang="fr-FR" b="1">
                <a:solidFill>
                  <a:srgbClr val="058593"/>
                </a:solidFill>
              </a:rPr>
              <a:t>)</a:t>
            </a:r>
            <a:endParaRPr lang="en-US" b="1">
              <a:solidFill>
                <a:srgbClr val="058593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69626D6-A0E9-FC02-8D29-42D59780732A}"/>
              </a:ext>
            </a:extLst>
          </p:cNvPr>
          <p:cNvSpPr txBox="1"/>
          <p:nvPr/>
        </p:nvSpPr>
        <p:spPr>
          <a:xfrm>
            <a:off x="374430" y="1554221"/>
            <a:ext cx="5725574" cy="369332"/>
          </a:xfrm>
          <a:prstGeom prst="rect">
            <a:avLst/>
          </a:prstGeom>
          <a:solidFill>
            <a:srgbClr val="B1ECED"/>
          </a:solidFill>
        </p:spPr>
        <p:txBody>
          <a:bodyPr wrap="square">
            <a:spAutoFit/>
          </a:bodyPr>
          <a:lstStyle/>
          <a:p>
            <a:r>
              <a:rPr lang="en-US" b="1"/>
              <a:t> The most widely used PET radiotracer in the world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26C3446-2049-EF3E-148C-3546E1E6C84E}"/>
              </a:ext>
            </a:extLst>
          </p:cNvPr>
          <p:cNvSpPr txBox="1"/>
          <p:nvPr/>
        </p:nvSpPr>
        <p:spPr>
          <a:xfrm>
            <a:off x="431822" y="4413298"/>
            <a:ext cx="5437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>
                <a:solidFill>
                  <a:srgbClr val="058593"/>
                </a:solidFill>
              </a:rPr>
              <a:t>d ) SUV (</a:t>
            </a:r>
            <a:r>
              <a:rPr lang="fr-FR" b="1" err="1">
                <a:solidFill>
                  <a:srgbClr val="058593"/>
                </a:solidFill>
              </a:rPr>
              <a:t>Standardized</a:t>
            </a:r>
            <a:r>
              <a:rPr lang="fr-FR" b="1">
                <a:solidFill>
                  <a:srgbClr val="058593"/>
                </a:solidFill>
              </a:rPr>
              <a:t> </a:t>
            </a:r>
            <a:r>
              <a:rPr lang="fr-FR" b="1" err="1">
                <a:solidFill>
                  <a:srgbClr val="058593"/>
                </a:solidFill>
              </a:rPr>
              <a:t>Uptake</a:t>
            </a:r>
            <a:r>
              <a:rPr lang="fr-FR" b="1">
                <a:solidFill>
                  <a:srgbClr val="058593"/>
                </a:solidFill>
              </a:rPr>
              <a:t> Value</a:t>
            </a:r>
            <a:r>
              <a:rPr lang="fr-FR">
                <a:solidFill>
                  <a:srgbClr val="058593"/>
                </a:solidFill>
              </a:rPr>
              <a:t>)</a:t>
            </a:r>
            <a:endParaRPr lang="en-US">
              <a:solidFill>
                <a:srgbClr val="058593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28B38611-8FC6-CE03-AD12-BFCE863A6086}"/>
                  </a:ext>
                </a:extLst>
              </p14:cNvPr>
              <p14:cNvContentPartPr/>
              <p14:nvPr/>
            </p14:nvContentPartPr>
            <p14:xfrm>
              <a:off x="6706053" y="5840991"/>
              <a:ext cx="423360" cy="48384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28B38611-8FC6-CE03-AD12-BFCE863A60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6053" y="5660991"/>
                <a:ext cx="60300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DF6EF23D-62A9-0D03-39C7-74ABA0DC1768}"/>
                  </a:ext>
                </a:extLst>
              </p14:cNvPr>
              <p14:cNvContentPartPr/>
              <p14:nvPr/>
            </p14:nvContentPartPr>
            <p14:xfrm>
              <a:off x="6607053" y="5667831"/>
              <a:ext cx="554760" cy="73224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DF6EF23D-62A9-0D03-39C7-74ABA0DC17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4053" y="5604831"/>
                <a:ext cx="680400" cy="8578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ZoneTexte 11">
            <a:extLst>
              <a:ext uri="{FF2B5EF4-FFF2-40B4-BE49-F238E27FC236}">
                <a16:creationId xmlns:a16="http://schemas.microsoft.com/office/drawing/2014/main" id="{B9763D61-DAD8-0A09-B16E-413D2B130BC7}"/>
              </a:ext>
            </a:extLst>
          </p:cNvPr>
          <p:cNvSpPr txBox="1"/>
          <p:nvPr/>
        </p:nvSpPr>
        <p:spPr>
          <a:xfrm>
            <a:off x="503497" y="5667831"/>
            <a:ext cx="424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For </a:t>
            </a:r>
            <a:r>
              <a:rPr lang="en-US" err="1">
                <a:solidFill>
                  <a:srgbClr val="FF0000"/>
                </a:solidFill>
              </a:rPr>
              <a:t>exemple</a:t>
            </a:r>
            <a:r>
              <a:rPr lang="en-US">
                <a:solidFill>
                  <a:srgbClr val="FF0000"/>
                </a:solidFill>
              </a:rPr>
              <a:t> : SUV &gt; 2.5 in a lung nodule is suspicious for malignancy</a:t>
            </a:r>
            <a:r>
              <a:rPr lang="en-US"/>
              <a:t>.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AFB98139-51D8-1E43-7CCB-F49C89F29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655962"/>
              </p:ext>
            </p:extLst>
          </p:nvPr>
        </p:nvGraphicFramePr>
        <p:xfrm>
          <a:off x="370426" y="2100426"/>
          <a:ext cx="5725574" cy="1859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62787">
                  <a:extLst>
                    <a:ext uri="{9D8B030D-6E8A-4147-A177-3AD203B41FA5}">
                      <a16:colId xmlns:a16="http://schemas.microsoft.com/office/drawing/2014/main" val="2058286952"/>
                    </a:ext>
                  </a:extLst>
                </a:gridCol>
                <a:gridCol w="2862787">
                  <a:extLst>
                    <a:ext uri="{9D8B030D-6E8A-4147-A177-3AD203B41FA5}">
                      <a16:colId xmlns:a16="http://schemas.microsoft.com/office/drawing/2014/main" val="550069463"/>
                    </a:ext>
                  </a:extLst>
                </a:gridCol>
              </a:tblGrid>
              <a:tr h="4919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/>
                        <a:t>¹⁸F : Fluorine-18</a:t>
                      </a:r>
                      <a:endParaRPr lang="fr-FR" sz="1400"/>
                    </a:p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FDG : </a:t>
                      </a:r>
                      <a:r>
                        <a:rPr lang="fr-FR" sz="1400" err="1"/>
                        <a:t>Modified</a:t>
                      </a:r>
                      <a:r>
                        <a:rPr lang="fr-FR" sz="1400"/>
                        <a:t> Glucose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84054"/>
                  </a:ext>
                </a:extLst>
              </a:tr>
              <a:tr h="285037">
                <a:tc>
                  <a:txBody>
                    <a:bodyPr/>
                    <a:lstStyle/>
                    <a:p>
                      <a:r>
                        <a:rPr lang="fr-FR" sz="1400"/>
                        <a:t>Positron </a:t>
                      </a:r>
                      <a:r>
                        <a:rPr lang="fr-FR" sz="1400" err="1"/>
                        <a:t>emitter</a:t>
                      </a:r>
                      <a:r>
                        <a:rPr lang="fr-FR" sz="1400"/>
                        <a:t> (</a:t>
                      </a:r>
                      <a:r>
                        <a:rPr lang="el-GR" sz="1400"/>
                        <a:t>β⁺)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err="1"/>
                        <a:t>Identical</a:t>
                      </a:r>
                      <a:r>
                        <a:rPr lang="fr-FR" sz="1400"/>
                        <a:t> to real glucose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509880"/>
                  </a:ext>
                </a:extLst>
              </a:tr>
              <a:tr h="4919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/>
                        <a:t>Half-life : 110 min</a:t>
                      </a:r>
                    </a:p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Enters </a:t>
                      </a:r>
                      <a:r>
                        <a:rPr lang="fr-FR" sz="1400" err="1"/>
                        <a:t>cells</a:t>
                      </a:r>
                      <a:r>
                        <a:rPr lang="fr-FR" sz="1400"/>
                        <a:t> → </a:t>
                      </a:r>
                      <a:r>
                        <a:rPr lang="fr-FR" sz="1400" err="1"/>
                        <a:t>gets</a:t>
                      </a:r>
                      <a:r>
                        <a:rPr lang="fr-FR" sz="1400"/>
                        <a:t> </a:t>
                      </a:r>
                      <a:r>
                        <a:rPr lang="fr-FR" sz="1400" b="1" err="1"/>
                        <a:t>trapped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96140"/>
                  </a:ext>
                </a:extLst>
              </a:tr>
              <a:tr h="4919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/>
                        <a:t>Produced</a:t>
                      </a:r>
                      <a:r>
                        <a:rPr lang="fr-FR" sz="1400"/>
                        <a:t> by cyclotron</a:t>
                      </a:r>
                    </a:p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Cannot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leave</a:t>
                      </a:r>
                      <a:r>
                        <a:rPr lang="fr-FR" sz="1400" dirty="0"/>
                        <a:t> → </a:t>
                      </a:r>
                      <a:r>
                        <a:rPr lang="fr-FR" sz="1400" dirty="0" err="1"/>
                        <a:t>accumulates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67493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792B4DAB-7B8B-3FD5-8AEE-F849D28D310E}"/>
              </a:ext>
            </a:extLst>
          </p:cNvPr>
          <p:cNvSpPr txBox="1"/>
          <p:nvPr/>
        </p:nvSpPr>
        <p:spPr>
          <a:xfrm>
            <a:off x="7881872" y="1096706"/>
            <a:ext cx="2417920" cy="1077218"/>
          </a:xfrm>
          <a:prstGeom prst="rect">
            <a:avLst/>
          </a:prstGeom>
          <a:solidFill>
            <a:srgbClr val="CFF9FD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Why it works for cancer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Warburg effect : tumors consume </a:t>
            </a:r>
            <a:r>
              <a:rPr lang="en-US" sz="1600" b="1"/>
              <a:t>5 to 10× more glucose</a:t>
            </a:r>
            <a:endParaRPr lang="en-US" sz="16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B7C668-4248-3004-5CC2-23A8F309A61A}"/>
              </a:ext>
            </a:extLst>
          </p:cNvPr>
          <p:cNvSpPr txBox="1"/>
          <p:nvPr/>
        </p:nvSpPr>
        <p:spPr>
          <a:xfrm>
            <a:off x="6917733" y="5215802"/>
            <a:ext cx="4977787" cy="1077218"/>
          </a:xfrm>
          <a:prstGeom prst="rect">
            <a:avLst/>
          </a:prstGeom>
          <a:solidFill>
            <a:srgbClr val="CFF9FD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Clinical uses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Cancer staging &amp; recurrence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Chemotherapy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Brain : Alzheimer's, epilepsy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318338F-4854-A5BC-72C7-C2B6F527D62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53784" y="2117518"/>
            <a:ext cx="3688295" cy="2794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F103D23-920A-1E03-C9B3-E04C1FFA83B8}"/>
                  </a:ext>
                </a:extLst>
              </p:cNvPr>
              <p:cNvSpPr txBox="1"/>
              <p:nvPr/>
            </p:nvSpPr>
            <p:spPr>
              <a:xfrm>
                <a:off x="503497" y="4914472"/>
                <a:ext cx="3880410" cy="4368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/>
                  <a:t>SUV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𝑟𝑎𝑑𝑖𝑜𝑎𝑐𝑡𝑖𝑣𝑒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𝑐𝑜𝑛𝑐𝑒𝑛𝑡𝑟𝑎𝑡𝑖𝑜𝑛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𝑖𝑛𝑗𝑒𝑐𝑡𝑒𝑑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𝑏𝑜𝑑𝑦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𝑤𝑒𝑖𝑔h𝑡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F103D23-920A-1E03-C9B3-E04C1FFA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97" y="4914472"/>
                <a:ext cx="3880410" cy="436851"/>
              </a:xfrm>
              <a:prstGeom prst="rect">
                <a:avLst/>
              </a:prstGeom>
              <a:blipFill>
                <a:blip r:embed="rId7"/>
                <a:stretch>
                  <a:fillRect l="-3774" t="-277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1536A86F-8E3B-6BD4-0A73-B1580DE22756}"/>
              </a:ext>
            </a:extLst>
          </p:cNvPr>
          <p:cNvSpPr txBox="1"/>
          <p:nvPr/>
        </p:nvSpPr>
        <p:spPr>
          <a:xfrm>
            <a:off x="368216" y="88542"/>
            <a:ext cx="6452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C) PET (Positron Emission </a:t>
            </a:r>
            <a:r>
              <a:rPr lang="fr-FR" sz="2400" b="1" err="1">
                <a:solidFill>
                  <a:schemeClr val="bg1"/>
                </a:solidFill>
                <a:latin typeface="Lora" pitchFamily="2" charset="0"/>
              </a:rPr>
              <a:t>Tomography</a:t>
            </a:r>
            <a:r>
              <a:rPr lang="fr-FR" sz="2400" b="1">
                <a:solidFill>
                  <a:schemeClr val="bg1"/>
                </a:solidFill>
                <a:latin typeface="Lora" pitchFamily="2" charset="0"/>
              </a:rPr>
              <a:t>)</a:t>
            </a:r>
            <a:endParaRPr lang="en-US" sz="2400" b="1">
              <a:solidFill>
                <a:schemeClr val="bg1"/>
              </a:solidFill>
              <a:latin typeface="Lora" pitchFamily="2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E528236-6578-5DE4-5BB8-88F56F63C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5587" y="4911177"/>
            <a:ext cx="2257422" cy="126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96E1-B199-C075-EE1A-936B6B87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F0EF71-5874-6A1B-00E1-648A4862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28DB30-1E2B-1AC2-4A67-E641BB588CEA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b="1">
                <a:latin typeface="Lora"/>
              </a:rPr>
              <a:t>                                   </a:t>
            </a:r>
            <a:r>
              <a:rPr lang="fr-FR" b="1" err="1">
                <a:latin typeface="Lora"/>
              </a:rPr>
              <a:t>Nuclear</a:t>
            </a:r>
            <a:r>
              <a:rPr lang="fr-FR" b="1">
                <a:latin typeface="Lora"/>
              </a:rPr>
              <a:t> </a:t>
            </a:r>
            <a:r>
              <a:rPr lang="fr-FR" b="1" err="1">
                <a:latin typeface="Lora"/>
              </a:rPr>
              <a:t>Therapy</a:t>
            </a:r>
            <a:endParaRPr lang="en-US" b="1" err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B7851-01D2-B356-4F4E-9EF8392A1CDF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C97AF-FC74-0CF9-7B59-BDA7DE903C79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2">
            <a:extLst>
              <a:ext uri="{FF2B5EF4-FFF2-40B4-BE49-F238E27FC236}">
                <a16:creationId xmlns:a16="http://schemas.microsoft.com/office/drawing/2014/main" id="{E0178E3F-6101-BC2C-1841-BDAAB0BC61DB}"/>
              </a:ext>
            </a:extLst>
          </p:cNvPr>
          <p:cNvSpPr txBox="1"/>
          <p:nvPr/>
        </p:nvSpPr>
        <p:spPr>
          <a:xfrm>
            <a:off x="557" y="16830"/>
            <a:ext cx="78356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chemeClr val="bg1"/>
                </a:solidFill>
                <a:latin typeface="Lora"/>
              </a:rPr>
              <a:t>3) THERAPEUTIC APPLICATIONS</a:t>
            </a:r>
            <a:r>
              <a:rPr lang="fr-FR" sz="2800" b="1" u="sng">
                <a:solidFill>
                  <a:schemeClr val="bg1"/>
                </a:solidFill>
                <a:latin typeface="Lora"/>
              </a:rPr>
              <a:t> :</a:t>
            </a:r>
            <a:endParaRPr lang="en-US" sz="2800" b="1" u="sng">
              <a:solidFill>
                <a:schemeClr val="bg1"/>
              </a:solidFill>
              <a:latin typeface="Lora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9451F5B-3DC4-8977-9F21-AB162FB3B13D}"/>
              </a:ext>
            </a:extLst>
          </p:cNvPr>
          <p:cNvSpPr txBox="1"/>
          <p:nvPr/>
        </p:nvSpPr>
        <p:spPr>
          <a:xfrm>
            <a:off x="2404465" y="1071216"/>
            <a:ext cx="73688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2CA8B2"/>
                </a:solidFill>
                <a:effectLst/>
                <a:latin typeface="pplxSerif"/>
              </a:rPr>
              <a:t>     </a:t>
            </a:r>
            <a:r>
              <a:rPr lang="en-US" sz="2400" b="1" i="0">
                <a:solidFill>
                  <a:srgbClr val="2CA8B2"/>
                </a:solidFill>
                <a:effectLst/>
                <a:latin typeface="pplxSerif"/>
              </a:rPr>
              <a:t>how do we use radiation to destroy cancer cells while protecting healthy tissue as much as possible?</a:t>
            </a:r>
            <a:endParaRPr lang="fr-FR">
              <a:solidFill>
                <a:srgbClr val="2CA8B2"/>
              </a:solidFill>
            </a:endParaRPr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A7E40166-134D-67DA-DF4E-63C94DEB7467}"/>
              </a:ext>
            </a:extLst>
          </p:cNvPr>
          <p:cNvCxnSpPr/>
          <p:nvPr/>
        </p:nvCxnSpPr>
        <p:spPr>
          <a:xfrm>
            <a:off x="555734" y="540050"/>
            <a:ext cx="1056290" cy="947314"/>
          </a:xfrm>
          <a:prstGeom prst="bentConnector3">
            <a:avLst>
              <a:gd name="adj1" fmla="val 522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F5195D6C-5864-F0F8-2159-739D2C7D912C}"/>
              </a:ext>
            </a:extLst>
          </p:cNvPr>
          <p:cNvSpPr txBox="1"/>
          <p:nvPr/>
        </p:nvSpPr>
        <p:spPr>
          <a:xfrm>
            <a:off x="0" y="2390763"/>
            <a:ext cx="615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7251E"/>
                </a:solidFill>
                <a:effectLst/>
                <a:latin typeface="pplxSerif"/>
              </a:rPr>
              <a:t>External Beam Radiotherapy (EBRT)</a:t>
            </a:r>
            <a:r>
              <a:rPr lang="en-US" b="0" i="0">
                <a:solidFill>
                  <a:srgbClr val="27251E"/>
                </a:solidFill>
                <a:effectLst/>
                <a:latin typeface="pplxSerif"/>
              </a:rPr>
              <a:t> 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E78CD59-BB61-64B9-17D1-E6C3D87CDCF5}"/>
              </a:ext>
            </a:extLst>
          </p:cNvPr>
          <p:cNvSpPr txBox="1"/>
          <p:nvPr/>
        </p:nvSpPr>
        <p:spPr>
          <a:xfrm>
            <a:off x="5096204" y="2390763"/>
            <a:ext cx="615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27251E"/>
                </a:solidFill>
                <a:effectLst/>
                <a:latin typeface="pplxSerif"/>
              </a:rPr>
              <a:t>Brachytherapy</a:t>
            </a:r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4D2C353-AB0D-B268-E667-A7BC66548477}"/>
              </a:ext>
            </a:extLst>
          </p:cNvPr>
          <p:cNvSpPr txBox="1"/>
          <p:nvPr/>
        </p:nvSpPr>
        <p:spPr>
          <a:xfrm>
            <a:off x="8312369" y="2369402"/>
            <a:ext cx="615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7251E"/>
                </a:solidFill>
                <a:effectLst/>
                <a:latin typeface="pplxSerif"/>
              </a:rPr>
              <a:t>Targeted Radionuclide Therapy (TRT)</a:t>
            </a:r>
            <a:endParaRPr lang="en-US" b="0" i="0">
              <a:solidFill>
                <a:srgbClr val="27251E"/>
              </a:solidFill>
              <a:effectLst/>
              <a:latin typeface="pplxSerif"/>
            </a:endParaRPr>
          </a:p>
        </p:txBody>
      </p:sp>
      <p:pic>
        <p:nvPicPr>
          <p:cNvPr id="1026" name="Picture 2" descr="External Beam Radiation Therapy Charlotte, NC | SERO">
            <a:extLst>
              <a:ext uri="{FF2B5EF4-FFF2-40B4-BE49-F238E27FC236}">
                <a16:creationId xmlns:a16="http://schemas.microsoft.com/office/drawing/2014/main" id="{AC29AB44-B179-9DE9-ACE1-36363EC47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80" y="2896987"/>
            <a:ext cx="3372531" cy="224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achytherapy in AU and NZ | Targeting Cancer">
            <a:extLst>
              <a:ext uri="{FF2B5EF4-FFF2-40B4-BE49-F238E27FC236}">
                <a16:creationId xmlns:a16="http://schemas.microsoft.com/office/drawing/2014/main" id="{8FBF171D-0F2C-AB75-3D26-CEE4E95D8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715" y="2896987"/>
            <a:ext cx="3154825" cy="238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argeted Radionuclide Therapy | Open Medscience">
            <a:extLst>
              <a:ext uri="{FF2B5EF4-FFF2-40B4-BE49-F238E27FC236}">
                <a16:creationId xmlns:a16="http://schemas.microsoft.com/office/drawing/2014/main" id="{99DDAD24-C966-1547-0678-F41BC9641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421" y="2896987"/>
            <a:ext cx="3583206" cy="238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FDDB03DB-3EC6-8801-CEBC-2F01F6894728}"/>
              </a:ext>
            </a:extLst>
          </p:cNvPr>
          <p:cNvSpPr txBox="1"/>
          <p:nvPr/>
        </p:nvSpPr>
        <p:spPr>
          <a:xfrm>
            <a:off x="1525314" y="5674200"/>
            <a:ext cx="8667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maximize dose to the tumor, minimize dose to healthy tissue.</a:t>
            </a:r>
            <a:endParaRPr lang="fr-FR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63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A5114-62A9-655A-7836-7023CD1B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458F46-08D3-AB1E-4316-9A8D44BB9953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59D325-60F2-15EA-9C3F-9DB0F62E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5B012-6A92-15BF-5DB5-5A31F8F07D74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D2AA0-FD04-AAD6-941D-D81376ADA181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F97EEB5-4D09-57A1-7AF7-4BDA05A0459D}"/>
              </a:ext>
            </a:extLst>
          </p:cNvPr>
          <p:cNvSpPr txBox="1"/>
          <p:nvPr/>
        </p:nvSpPr>
        <p:spPr>
          <a:xfrm>
            <a:off x="0" y="69475"/>
            <a:ext cx="695585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B) External beam radiotherapy</a:t>
            </a:r>
            <a:endParaRPr lang="en-US" sz="3200" b="0" i="0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77BA262-0290-FBED-BDAD-78031C8006D5}"/>
              </a:ext>
            </a:extLst>
          </p:cNvPr>
          <p:cNvSpPr/>
          <p:nvPr/>
        </p:nvSpPr>
        <p:spPr>
          <a:xfrm>
            <a:off x="548640" y="787319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u="sng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</a:t>
            </a:r>
            <a:endParaRPr lang="en-US" sz="2000" u="sng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5353103-752C-667C-1D79-5E2064843CB5}"/>
              </a:ext>
            </a:extLst>
          </p:cNvPr>
          <p:cNvSpPr/>
          <p:nvPr/>
        </p:nvSpPr>
        <p:spPr>
          <a:xfrm>
            <a:off x="792480" y="5242560"/>
            <a:ext cx="29260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endParaRPr lang="en-US" sz="1467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013A47-572D-26FE-12C4-7C20964D548A}"/>
              </a:ext>
            </a:extLst>
          </p:cNvPr>
          <p:cNvSpPr txBox="1"/>
          <p:nvPr/>
        </p:nvSpPr>
        <p:spPr>
          <a:xfrm>
            <a:off x="792480" y="1153079"/>
            <a:ext cx="9888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 machine outside the patient generates a beam of radiation and points it at the tumor. The beam enters the body, crosses healthy tissue, hits the tumor, and  depending on the type of radiation </a:t>
            </a:r>
            <a:r>
              <a:rPr lang="en-US">
                <a:solidFill>
                  <a:srgbClr val="2725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0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 or may not exit on the other side.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B620C9-1944-8F01-9027-1CD39F29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95428"/>
            <a:ext cx="7003770" cy="4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95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0D4A-512A-9663-BD09-11C82D54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542D706-EECD-2B79-CA9A-1B0107E8FC68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3495DA-A31D-EBDB-5565-C59751A6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ED786-2471-C2A1-E0A9-061439F660AD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0F8A9-AC0B-5F8E-FB13-49D60770D7E1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9643B8-0B6E-2830-C6A3-D7248491A072}"/>
              </a:ext>
            </a:extLst>
          </p:cNvPr>
          <p:cNvSpPr txBox="1"/>
          <p:nvPr/>
        </p:nvSpPr>
        <p:spPr>
          <a:xfrm>
            <a:off x="0" y="69475"/>
            <a:ext cx="695585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B) External beam radiotherapy</a:t>
            </a:r>
            <a:endParaRPr lang="en-US" sz="3200" b="0" i="0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35CA839-89C0-8E6D-89AE-6285BDA34CB4}"/>
              </a:ext>
            </a:extLst>
          </p:cNvPr>
          <p:cNvSpPr/>
          <p:nvPr/>
        </p:nvSpPr>
        <p:spPr>
          <a:xfrm>
            <a:off x="792480" y="5242560"/>
            <a:ext cx="29260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endParaRPr lang="en-US" sz="1467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80EF951-C8BA-9FDD-FB57-4CFB8AA1B47E}"/>
              </a:ext>
            </a:extLst>
          </p:cNvPr>
          <p:cNvSpPr txBox="1"/>
          <p:nvPr/>
        </p:nvSpPr>
        <p:spPr>
          <a:xfrm>
            <a:off x="76200" y="82296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Photon </a:t>
            </a:r>
            <a:r>
              <a:rPr lang="fr-FR" b="1" i="0" err="1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Therapy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(X-rays</a:t>
            </a:r>
            <a:r>
              <a:rPr lang="fr-FR" b="0" i="0">
                <a:solidFill>
                  <a:srgbClr val="27251E"/>
                </a:solidFill>
                <a:effectLst/>
                <a:latin typeface="pplxSerif"/>
              </a:rPr>
              <a:t>)</a:t>
            </a: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67FBD75C-C06C-D88C-2B74-448BED365F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7669" y="2330669"/>
            <a:ext cx="1250731" cy="125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2CDE2D0C-7362-E0BA-7496-7A5B99BFA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61687"/>
              </p:ext>
            </p:extLst>
          </p:nvPr>
        </p:nvGraphicFramePr>
        <p:xfrm>
          <a:off x="365235" y="2616428"/>
          <a:ext cx="6760779" cy="3352800"/>
        </p:xfrm>
        <a:graphic>
          <a:graphicData uri="http://schemas.openxmlformats.org/drawingml/2006/table">
            <a:tbl>
              <a:tblPr/>
              <a:tblGrid>
                <a:gridCol w="2253593">
                  <a:extLst>
                    <a:ext uri="{9D8B030D-6E8A-4147-A177-3AD203B41FA5}">
                      <a16:colId xmlns:a16="http://schemas.microsoft.com/office/drawing/2014/main" val="477715113"/>
                    </a:ext>
                  </a:extLst>
                </a:gridCol>
                <a:gridCol w="2253593">
                  <a:extLst>
                    <a:ext uri="{9D8B030D-6E8A-4147-A177-3AD203B41FA5}">
                      <a16:colId xmlns:a16="http://schemas.microsoft.com/office/drawing/2014/main" val="551817793"/>
                    </a:ext>
                  </a:extLst>
                </a:gridCol>
                <a:gridCol w="2253593">
                  <a:extLst>
                    <a:ext uri="{9D8B030D-6E8A-4147-A177-3AD203B41FA5}">
                      <a16:colId xmlns:a16="http://schemas.microsoft.com/office/drawing/2014/main" val="2498968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Interaction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Energy range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err="1">
                          <a:effectLst/>
                        </a:rPr>
                        <a:t>What</a:t>
                      </a:r>
                      <a:r>
                        <a:rPr lang="fr-FR">
                          <a:effectLst/>
                        </a:rPr>
                        <a:t> </a:t>
                      </a:r>
                      <a:r>
                        <a:rPr lang="fr-FR" err="1">
                          <a:effectLst/>
                        </a:rPr>
                        <a:t>happens</a:t>
                      </a:r>
                      <a:endParaRPr lang="fr-FR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5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 err="1">
                          <a:effectLst/>
                        </a:rPr>
                        <a:t>Photoelectric</a:t>
                      </a:r>
                      <a:r>
                        <a:rPr lang="fr-FR" b="1">
                          <a:effectLst/>
                        </a:rPr>
                        <a:t> </a:t>
                      </a:r>
                      <a:r>
                        <a:rPr lang="fr-FR" b="1" err="1">
                          <a:effectLst/>
                        </a:rPr>
                        <a:t>effect</a:t>
                      </a:r>
                      <a:endParaRPr lang="fr-FR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&lt; 0.1 MeV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Photon absorbed completely, ejects electron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164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</a:rPr>
                        <a:t>Compton scattering</a:t>
                      </a:r>
                      <a:endParaRPr lang="fr-FR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0.1–10 MeV (dominant in therapy)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Photon scatters off electron, both continue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293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</a:rPr>
                        <a:t>Pair production</a:t>
                      </a:r>
                      <a:endParaRPr lang="fr-FR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&gt; 1.022 MeV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</a:rPr>
                        <a:t>Photon </a:t>
                      </a:r>
                      <a:r>
                        <a:rPr lang="fr-FR" err="1">
                          <a:effectLst/>
                        </a:rPr>
                        <a:t>creates</a:t>
                      </a:r>
                      <a:r>
                        <a:rPr lang="fr-FR">
                          <a:effectLst/>
                        </a:rPr>
                        <a:t> </a:t>
                      </a:r>
                      <a:r>
                        <a:rPr lang="fr-FR" err="1">
                          <a:effectLst/>
                        </a:rPr>
                        <a:t>electron</a:t>
                      </a:r>
                      <a:r>
                        <a:rPr lang="fr-FR">
                          <a:effectLst/>
                        </a:rPr>
                        <a:t> + positron pair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418320"/>
                  </a:ext>
                </a:extLst>
              </a:tr>
            </a:tbl>
          </a:graphicData>
        </a:graphic>
      </p:graphicFrame>
      <p:sp>
        <p:nvSpPr>
          <p:cNvPr id="27" name="ZoneTexte 26">
            <a:extLst>
              <a:ext uri="{FF2B5EF4-FFF2-40B4-BE49-F238E27FC236}">
                <a16:creationId xmlns:a16="http://schemas.microsoft.com/office/drawing/2014/main" id="{4B19E94D-5EC2-5065-F35A-53A931BCF1C8}"/>
              </a:ext>
            </a:extLst>
          </p:cNvPr>
          <p:cNvSpPr txBox="1"/>
          <p:nvPr/>
        </p:nvSpPr>
        <p:spPr>
          <a:xfrm>
            <a:off x="472612" y="1260685"/>
            <a:ext cx="11209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machine is called a LINAC (Linear Accelerator). It accelerates electrons to very high energies (6–18 MeV), then slams them into a tungsten target. The electrons suddenly decelerate and produce X-rays  this process is called bremsstrahlung 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X-ray beam enters the patient's body and deposits its energy mainly through three interactions with tissue: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5C6C724E-79C4-90DB-06B2-81930C846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792" y="2558718"/>
            <a:ext cx="4556235" cy="347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648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BD43-325A-3A6B-5325-57C3248F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119EB7-B4D3-B914-A742-EE9BF96D306C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0AFAD4-1980-DF34-A712-5E63E3BDC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EBE75B-91A1-7E73-BEAA-89B4D020BA6B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CBF9F0-939D-D6C8-0BEA-05EBF92C680F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45A500C-AE5E-A4EF-C0F7-D383B65F29AD}"/>
              </a:ext>
            </a:extLst>
          </p:cNvPr>
          <p:cNvSpPr txBox="1"/>
          <p:nvPr/>
        </p:nvSpPr>
        <p:spPr>
          <a:xfrm>
            <a:off x="0" y="69475"/>
            <a:ext cx="695585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A</a:t>
            </a:r>
            <a:r>
              <a:rPr kumimoji="0" lang="en-US" sz="28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Trebuchet MS" pitchFamily="34" charset="-122"/>
                <a:cs typeface="Times New Roman"/>
              </a:rPr>
              <a:t>) External beam radiotherapy</a:t>
            </a:r>
            <a:endParaRPr lang="en-US" sz="2800" b="0" i="0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4456757-83C7-E955-B022-94CB487127CB}"/>
              </a:ext>
            </a:extLst>
          </p:cNvPr>
          <p:cNvSpPr/>
          <p:nvPr/>
        </p:nvSpPr>
        <p:spPr>
          <a:xfrm>
            <a:off x="792480" y="5242560"/>
            <a:ext cx="29260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endParaRPr lang="en-US" sz="1467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C1B7071-5EA4-9C75-A4D0-72F0CFCC3C40}"/>
              </a:ext>
            </a:extLst>
          </p:cNvPr>
          <p:cNvSpPr txBox="1"/>
          <p:nvPr/>
        </p:nvSpPr>
        <p:spPr>
          <a:xfrm>
            <a:off x="76200" y="822960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585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Electron </a:t>
            </a:r>
            <a:r>
              <a:rPr lang="fr-FR" b="1" u="sng" err="1">
                <a:solidFill>
                  <a:srgbClr val="0585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Therapy</a:t>
            </a:r>
            <a:endParaRPr lang="fr-FR" b="1" u="sng">
              <a:solidFill>
                <a:srgbClr val="0585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fr-FR" b="0" i="0">
              <a:solidFill>
                <a:srgbClr val="27251E"/>
              </a:solidFill>
              <a:effectLst/>
              <a:latin typeface="pplxSerif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66F89E5F-2A7D-7310-2FE9-9D5034793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7669" y="2330669"/>
            <a:ext cx="1250731" cy="125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FF8637-F3F9-0105-EBA2-B9C145D82BC4}"/>
              </a:ext>
            </a:extLst>
          </p:cNvPr>
          <p:cNvSpPr txBox="1"/>
          <p:nvPr/>
        </p:nvSpPr>
        <p:spPr>
          <a:xfrm>
            <a:off x="632460" y="1250696"/>
            <a:ext cx="10608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Electrons (β⁻ particles) </a:t>
            </a:r>
            <a:r>
              <a:rPr lang="en-US" i="0" u="sng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have a short range </a:t>
            </a:r>
            <a:r>
              <a:rPr lang="en-US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tissue a few centimeters  because they lose energy quickly by ionizing atoms along their </a:t>
            </a:r>
            <a:r>
              <a:rPr lang="en-US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path.This</a:t>
            </a:r>
            <a:r>
              <a:rPr lang="en-US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them ideal for superficial tumors:  skin cancer, chest wall lesions, post-mastectomy treatment. Below about 5–6 cm depth, the dose drops to nearly zero.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FC1DCD5-E6B8-EFC7-489F-75E5C73B52CA}"/>
              </a:ext>
            </a:extLst>
          </p:cNvPr>
          <p:cNvSpPr txBox="1"/>
          <p:nvPr/>
        </p:nvSpPr>
        <p:spPr>
          <a:xfrm>
            <a:off x="49267" y="225783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1" i="0" u="sng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3.Hadrontherapy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7478249-6357-AD10-6D39-C7BCB1FE2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0"/>
          <a:stretch>
            <a:fillRect/>
          </a:stretch>
        </p:blipFill>
        <p:spPr bwMode="auto">
          <a:xfrm>
            <a:off x="76200" y="3177822"/>
            <a:ext cx="5145671" cy="341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1E89C98-5404-2BAA-480B-4EA10F26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637" y="2575370"/>
            <a:ext cx="5695089" cy="382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D1385BC-212B-C74C-1DC2-617583C07472}"/>
              </a:ext>
            </a:extLst>
          </p:cNvPr>
          <p:cNvSpPr txBox="1"/>
          <p:nvPr/>
        </p:nvSpPr>
        <p:spPr>
          <a:xfrm>
            <a:off x="1273065" y="274218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Proton vs X-ray dose </a:t>
            </a:r>
            <a:r>
              <a:rPr lang="fr-FR" b="0" i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curves</a:t>
            </a:r>
            <a:endParaRPr lang="fr-FR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F9B4126-6C2D-CE95-A3F0-1978BC917AC9}"/>
              </a:ext>
            </a:extLst>
          </p:cNvPr>
          <p:cNvSpPr txBox="1"/>
          <p:nvPr/>
        </p:nvSpPr>
        <p:spPr>
          <a:xfrm>
            <a:off x="7216665" y="2180091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Proton </a:t>
            </a:r>
            <a:r>
              <a:rPr lang="fr-FR" b="0" i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therapy</a:t>
            </a:r>
            <a:r>
              <a:rPr lang="fr-FR" b="0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dose </a:t>
            </a:r>
            <a:r>
              <a:rPr lang="fr-FR" b="0" i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fr-FR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51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AC44-44C9-C58B-9604-CA9D1126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C94E07-65CC-E66B-43D7-60ED4F1EC4AD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6F142C-5F47-B887-4CA5-D46DD9B53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E3840-829F-AE65-C7D1-BB4AF1E5F95E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7927A0-F8B1-0C60-6ADB-4DD30CC6DA45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1F78B42-8CEA-DD45-6244-40E4D8866B4E}"/>
              </a:ext>
            </a:extLst>
          </p:cNvPr>
          <p:cNvSpPr txBox="1"/>
          <p:nvPr/>
        </p:nvSpPr>
        <p:spPr>
          <a:xfrm>
            <a:off x="0" y="69475"/>
            <a:ext cx="695585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A</a:t>
            </a:r>
            <a:r>
              <a:rPr kumimoji="0" lang="en-US" sz="28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Trebuchet MS" pitchFamily="34" charset="-122"/>
                <a:cs typeface="Times New Roman"/>
              </a:rPr>
              <a:t>) External beam radiotherapy</a:t>
            </a:r>
            <a:endParaRPr lang="en-US" sz="2800" b="0" i="0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9EC3EE9-3337-FCCF-DD69-A2E20D0E4820}"/>
              </a:ext>
            </a:extLst>
          </p:cNvPr>
          <p:cNvSpPr/>
          <p:nvPr/>
        </p:nvSpPr>
        <p:spPr>
          <a:xfrm>
            <a:off x="792480" y="5242560"/>
            <a:ext cx="29260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endParaRPr lang="en-US" sz="1467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A1029B32-0632-C00B-C27E-13E8EB3A8B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7669" y="2330669"/>
            <a:ext cx="1250731" cy="125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77F9A9E-33C8-978A-8E3A-073AE7296B4E}"/>
              </a:ext>
            </a:extLst>
          </p:cNvPr>
          <p:cNvSpPr txBox="1"/>
          <p:nvPr/>
        </p:nvSpPr>
        <p:spPr>
          <a:xfrm>
            <a:off x="330143" y="4583892"/>
            <a:ext cx="59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 Bethe-Bloch equation:</a:t>
            </a:r>
            <a:endParaRPr lang="fr-FR" b="1">
              <a:highlight>
                <a:srgbClr val="CFF9FD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E9FCDCA-A302-23E5-7802-41C558BBD233}"/>
              </a:ext>
            </a:extLst>
          </p:cNvPr>
          <p:cNvSpPr txBox="1"/>
          <p:nvPr/>
        </p:nvSpPr>
        <p:spPr>
          <a:xfrm>
            <a:off x="5132439" y="1641589"/>
            <a:ext cx="6179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ions (C-12, charge z = 6) lose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36 times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protons (z² ratio: 6² vs 1²) for the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sharper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more intense Bragg </a:t>
            </a:r>
            <a:r>
              <a:rPr lang="fr-FR" i="0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B17BEFA-7BFB-BE99-6D8B-2F8D476CB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99" y="1166945"/>
            <a:ext cx="4657939" cy="330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FE8C1DB1-6E3D-3937-B733-672E1BB6A621}"/>
              </a:ext>
            </a:extLst>
          </p:cNvPr>
          <p:cNvSpPr txBox="1"/>
          <p:nvPr/>
        </p:nvSpPr>
        <p:spPr>
          <a:xfrm>
            <a:off x="211816" y="769382"/>
            <a:ext cx="6955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Ions vs. Protons </a:t>
            </a:r>
            <a:r>
              <a:rPr lang="fr-FR" b="1">
                <a:solidFill>
                  <a:srgbClr val="0585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</a:t>
            </a:r>
            <a:r>
              <a:rPr lang="fr-FR" b="1" i="0" err="1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i="0" err="1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(RBE)</a:t>
            </a:r>
            <a:endParaRPr lang="fr-FR" b="1">
              <a:solidFill>
                <a:srgbClr val="0585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29F1973B-F227-8EFC-CB10-36BF3304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6" y="5066715"/>
            <a:ext cx="4657939" cy="69541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6F9929A-45DA-AFBD-F49D-9F80A2B8F8FF}"/>
              </a:ext>
            </a:extLst>
          </p:cNvPr>
          <p:cNvSpPr txBox="1"/>
          <p:nvPr/>
        </p:nvSpPr>
        <p:spPr>
          <a:xfrm>
            <a:off x="5132439" y="3318771"/>
            <a:ext cx="6179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Linear Energy Transfer (LET)</a:t>
            </a:r>
            <a:r>
              <a:rPr lang="fr-FR" b="0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:</a:t>
            </a:r>
            <a:endParaRPr lang="fr-FR">
              <a:highlight>
                <a:srgbClr val="CFF9FD"/>
              </a:highlight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BFE1DC0F-747C-A99E-6449-92241F7E5D58}"/>
              </a:ext>
            </a:extLst>
          </p:cNvPr>
          <p:cNvSpPr txBox="1"/>
          <p:nvPr/>
        </p:nvSpPr>
        <p:spPr>
          <a:xfrm>
            <a:off x="5613166" y="3923445"/>
            <a:ext cx="6179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0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LET=−</a:t>
            </a:r>
            <a:r>
              <a:rPr lang="fr-FR" i="1" err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i="1">
                <a:solidFill>
                  <a:srgbClr val="2725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/dx </a:t>
            </a:r>
            <a:r>
              <a:rPr lang="fr-FR" i="0">
                <a:solidFill>
                  <a:srgbClr val="27251E"/>
                </a:solidFill>
                <a:effectLst/>
                <a:latin typeface="KaTeX_Main"/>
              </a:rPr>
              <a:t>​</a:t>
            </a:r>
            <a:br>
              <a:rPr lang="fr-FR"/>
            </a:br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EBA14553-24BC-EA93-00ED-9FB40D247007}"/>
              </a:ext>
            </a:extLst>
          </p:cNvPr>
          <p:cNvSpPr txBox="1"/>
          <p:nvPr/>
        </p:nvSpPr>
        <p:spPr>
          <a:xfrm>
            <a:off x="5132439" y="4627276"/>
            <a:ext cx="6179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RBE (Relative </a:t>
            </a:r>
            <a:r>
              <a:rPr lang="fr-FR" b="1" i="0" err="1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Biological</a:t>
            </a:r>
            <a:r>
              <a:rPr lang="fr-FR" b="1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 </a:t>
            </a:r>
            <a:r>
              <a:rPr lang="fr-FR" b="1" i="0" err="1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Effectiveness</a:t>
            </a:r>
            <a:r>
              <a:rPr lang="fr-FR" b="1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)</a:t>
            </a:r>
            <a:r>
              <a:rPr lang="fr-FR" b="0" i="0">
                <a:solidFill>
                  <a:srgbClr val="27251E"/>
                </a:solidFill>
                <a:effectLst/>
                <a:highlight>
                  <a:srgbClr val="CFF9FD"/>
                </a:highlight>
                <a:latin typeface="pplxSerif"/>
              </a:rPr>
              <a:t>:</a:t>
            </a:r>
            <a:endParaRPr lang="fr-FR">
              <a:highlight>
                <a:srgbClr val="CFF9FD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C8C9E021-9688-035D-30D0-5C9606F301D9}"/>
                  </a:ext>
                </a:extLst>
              </p:cNvPr>
              <p:cNvSpPr txBox="1"/>
              <p:nvPr/>
            </p:nvSpPr>
            <p:spPr>
              <a:xfrm>
                <a:off x="4691392" y="4981455"/>
                <a:ext cx="8023122" cy="687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160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fr-FR" sz="160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fr-FR" sz="16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Dose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reference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radiation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rays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achieve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same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effect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​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Dose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test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radiation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produce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the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same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biological</m:t>
                          </m:r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effect</m:t>
                          </m:r>
                        </m:den>
                      </m:f>
                    </m:oMath>
                  </m:oMathPara>
                </a14:m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C8C9E021-9688-035D-30D0-5C9606F30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392" y="4981455"/>
                <a:ext cx="8023122" cy="6876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703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3B5A-66A8-EF66-01CB-FB4ECC5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F4B1682-7DAE-3A4E-53AD-BA0C4DA881C7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835BED-42B2-2B6E-C889-C1571EEE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95299-5A24-665F-6E1A-D90AC4A26E55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7B0D8-4453-BD4F-F394-EFA77BC969EA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2A33B50-A051-FF81-7F6D-3C1F024B7C50}"/>
              </a:ext>
            </a:extLst>
          </p:cNvPr>
          <p:cNvSpPr txBox="1"/>
          <p:nvPr/>
        </p:nvSpPr>
        <p:spPr>
          <a:xfrm>
            <a:off x="0" y="69475"/>
            <a:ext cx="695585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A</a:t>
            </a:r>
            <a:r>
              <a:rPr kumimoji="0" lang="en-US" sz="28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Trebuchet MS" pitchFamily="34" charset="-122"/>
                <a:cs typeface="Times New Roman"/>
              </a:rPr>
              <a:t>) External beam radiotherapy</a:t>
            </a:r>
            <a:endParaRPr lang="en-US" sz="2800" b="0" i="0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87127E9-30CF-1303-1519-966CD52DDAA5}"/>
              </a:ext>
            </a:extLst>
          </p:cNvPr>
          <p:cNvSpPr/>
          <p:nvPr/>
        </p:nvSpPr>
        <p:spPr>
          <a:xfrm>
            <a:off x="792480" y="5242560"/>
            <a:ext cx="29260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endParaRPr lang="en-US" sz="1467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2F6423AE-138F-82EB-13F9-EA4F76CBBE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97669" y="2330669"/>
            <a:ext cx="1250731" cy="125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893C06C-901A-B0A7-17AC-EAFEC8327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933825"/>
              </p:ext>
            </p:extLst>
          </p:nvPr>
        </p:nvGraphicFramePr>
        <p:xfrm>
          <a:off x="578856" y="1132675"/>
          <a:ext cx="11034288" cy="4299659"/>
        </p:xfrm>
        <a:graphic>
          <a:graphicData uri="http://schemas.openxmlformats.org/drawingml/2006/table">
            <a:tbl>
              <a:tblPr/>
              <a:tblGrid>
                <a:gridCol w="2758572">
                  <a:extLst>
                    <a:ext uri="{9D8B030D-6E8A-4147-A177-3AD203B41FA5}">
                      <a16:colId xmlns:a16="http://schemas.microsoft.com/office/drawing/2014/main" val="1927923441"/>
                    </a:ext>
                  </a:extLst>
                </a:gridCol>
                <a:gridCol w="2758572">
                  <a:extLst>
                    <a:ext uri="{9D8B030D-6E8A-4147-A177-3AD203B41FA5}">
                      <a16:colId xmlns:a16="http://schemas.microsoft.com/office/drawing/2014/main" val="4138958270"/>
                    </a:ext>
                  </a:extLst>
                </a:gridCol>
                <a:gridCol w="2758572">
                  <a:extLst>
                    <a:ext uri="{9D8B030D-6E8A-4147-A177-3AD203B41FA5}">
                      <a16:colId xmlns:a16="http://schemas.microsoft.com/office/drawing/2014/main" val="3025963120"/>
                    </a:ext>
                  </a:extLst>
                </a:gridCol>
                <a:gridCol w="2758572">
                  <a:extLst>
                    <a:ext uri="{9D8B030D-6E8A-4147-A177-3AD203B41FA5}">
                      <a16:colId xmlns:a16="http://schemas.microsoft.com/office/drawing/2014/main" val="33424649"/>
                    </a:ext>
                  </a:extLst>
                </a:gridCol>
              </a:tblGrid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Photons (X-rays)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ions (C-12)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676733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Bragg peak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Yes, sharper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09109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Exit dose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Nearly zero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Nearly zero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153229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(at tumor)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~0.5 keV/µm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 keV/µm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~80 keV/µm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09099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(reference)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~2–3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558773"/>
                  </a:ext>
                </a:extLst>
              </a:tr>
              <a:tr h="562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tumors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Skull base, pediatric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Radioresistant tumors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052392"/>
                  </a:ext>
                </a:extLst>
              </a:tr>
              <a:tr h="9242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centers (2024)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Everywhere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~120 worldwide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~15 </a:t>
                      </a:r>
                      <a:r>
                        <a:rPr lang="fr-FR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worldwide</a:t>
                      </a:r>
                      <a:endParaRPr lang="fr-FR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0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19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1BFC-59C4-8854-7659-2D2438B3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7">
            <a:extLst>
              <a:ext uri="{FF2B5EF4-FFF2-40B4-BE49-F238E27FC236}">
                <a16:creationId xmlns:a16="http://schemas.microsoft.com/office/drawing/2014/main" id="{E5954C0B-1E9E-481F-1104-EC4A7F63BAE6}"/>
              </a:ext>
            </a:extLst>
          </p:cNvPr>
          <p:cNvSpPr/>
          <p:nvPr/>
        </p:nvSpPr>
        <p:spPr>
          <a:xfrm>
            <a:off x="121920" y="1024592"/>
            <a:ext cx="11148323" cy="717021"/>
          </a:xfrm>
          <a:prstGeom prst="roundRect">
            <a:avLst>
              <a:gd name="adj" fmla="val 7619"/>
            </a:avLst>
          </a:prstGeom>
          <a:solidFill>
            <a:srgbClr val="D6ECEE"/>
          </a:solidFill>
          <a:ln w="12700">
            <a:solidFill>
              <a:srgbClr val="D6ECEE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0D3D13-CAF3-F119-F101-2E676C86A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C5685-561D-A051-A55F-DA397FB6D239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68D1F-7FEF-EB54-1A43-7197A280DBEB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88760-E08B-B36D-C8D0-5CCF27940C7C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0256AA8-294F-FF80-6450-06BD1776CDB3}"/>
              </a:ext>
            </a:extLst>
          </p:cNvPr>
          <p:cNvSpPr/>
          <p:nvPr/>
        </p:nvSpPr>
        <p:spPr>
          <a:xfrm>
            <a:off x="477079" y="105400"/>
            <a:ext cx="10972800" cy="39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B) Brachytherapy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E90D520-02E0-9153-4648-62437D878BE9}"/>
              </a:ext>
            </a:extLst>
          </p:cNvPr>
          <p:cNvSpPr/>
          <p:nvPr/>
        </p:nvSpPr>
        <p:spPr>
          <a:xfrm>
            <a:off x="121920" y="710478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E7C86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Principle</a:t>
            </a:r>
            <a:endParaRPr lang="en-US" sz="18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E3B13F6-FED2-3850-6974-5B4F2A83D139}"/>
              </a:ext>
            </a:extLst>
          </p:cNvPr>
          <p:cNvSpPr/>
          <p:nvPr/>
        </p:nvSpPr>
        <p:spPr>
          <a:xfrm>
            <a:off x="304800" y="2522758"/>
            <a:ext cx="4412974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6565" indent="-456565">
              <a:lnSpc>
                <a:spcPct val="120000"/>
              </a:lnSpc>
              <a:spcAft>
                <a:spcPts val="533"/>
              </a:spcAft>
              <a:buSzPct val="100000"/>
              <a:buChar char="•"/>
            </a:pPr>
            <a:endParaRPr lang="en-US" sz="1700">
              <a:latin typeface="Aptos Display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9F95CB5-868B-9D9C-0B59-C86823AAA233}"/>
              </a:ext>
            </a:extLst>
          </p:cNvPr>
          <p:cNvSpPr/>
          <p:nvPr/>
        </p:nvSpPr>
        <p:spPr>
          <a:xfrm>
            <a:off x="180076" y="1865923"/>
            <a:ext cx="6217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400">
                <a:solidFill>
                  <a:srgbClr val="0B5A62"/>
                </a:solidFill>
                <a:highlight>
                  <a:srgbClr val="CFF9FD"/>
                </a:highligh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INVERSE-SQUARE LAW</a:t>
            </a:r>
            <a:endParaRPr lang="en-US" sz="1333">
              <a:highlight>
                <a:srgbClr val="CFF9FD"/>
              </a:highlight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22BFBA6-9A4E-DD3B-AA9F-2F25FEE5F6F6}"/>
              </a:ext>
            </a:extLst>
          </p:cNvPr>
          <p:cNvSpPr/>
          <p:nvPr/>
        </p:nvSpPr>
        <p:spPr>
          <a:xfrm>
            <a:off x="180076" y="5001317"/>
            <a:ext cx="358926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>
                <a:solidFill>
                  <a:srgbClr val="0E2A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Doubling the distance from the source divides the dose by ~4 , neighboring tissues are spared a few millimeters away.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58C7E4-C467-6736-4A86-9A0011A1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29" y="5903996"/>
            <a:ext cx="933580" cy="514422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717C9BE1-59BF-8C31-979E-219E915EC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35488"/>
            <a:ext cx="4037331" cy="269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BD9CF2A-C0FD-8297-AADC-B557C31DB38E}"/>
              </a:ext>
            </a:extLst>
          </p:cNvPr>
          <p:cNvSpPr txBox="1"/>
          <p:nvPr/>
        </p:nvSpPr>
        <p:spPr>
          <a:xfrm>
            <a:off x="4548609" y="1786600"/>
            <a:ext cx="6113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err="1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Brachytherapy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 </a:t>
            </a:r>
            <a:r>
              <a:rPr lang="fr-FR" b="1" i="0" err="1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sealed</a:t>
            </a:r>
            <a:r>
              <a:rPr lang="fr-FR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sources</a:t>
            </a:r>
            <a:endParaRPr lang="fr-FR" b="1">
              <a:solidFill>
                <a:srgbClr val="0585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49869441-DA11-9E18-9CF6-F10EA2B19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03584"/>
              </p:ext>
            </p:extLst>
          </p:nvPr>
        </p:nvGraphicFramePr>
        <p:xfrm>
          <a:off x="4342131" y="2266132"/>
          <a:ext cx="7011668" cy="3779666"/>
        </p:xfrm>
        <a:graphic>
          <a:graphicData uri="http://schemas.openxmlformats.org/drawingml/2006/table">
            <a:tbl>
              <a:tblPr/>
              <a:tblGrid>
                <a:gridCol w="1752917">
                  <a:extLst>
                    <a:ext uri="{9D8B030D-6E8A-4147-A177-3AD203B41FA5}">
                      <a16:colId xmlns:a16="http://schemas.microsoft.com/office/drawing/2014/main" val="1720716321"/>
                    </a:ext>
                  </a:extLst>
                </a:gridCol>
                <a:gridCol w="1752917">
                  <a:extLst>
                    <a:ext uri="{9D8B030D-6E8A-4147-A177-3AD203B41FA5}">
                      <a16:colId xmlns:a16="http://schemas.microsoft.com/office/drawing/2014/main" val="2477198332"/>
                    </a:ext>
                  </a:extLst>
                </a:gridCol>
                <a:gridCol w="1752917">
                  <a:extLst>
                    <a:ext uri="{9D8B030D-6E8A-4147-A177-3AD203B41FA5}">
                      <a16:colId xmlns:a16="http://schemas.microsoft.com/office/drawing/2014/main" val="2472448893"/>
                    </a:ext>
                  </a:extLst>
                </a:gridCol>
                <a:gridCol w="1752917">
                  <a:extLst>
                    <a:ext uri="{9D8B030D-6E8A-4147-A177-3AD203B41FA5}">
                      <a16:colId xmlns:a16="http://schemas.microsoft.com/office/drawing/2014/main" val="4258203994"/>
                    </a:ext>
                  </a:extLst>
                </a:gridCol>
              </a:tblGrid>
              <a:tr h="4267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Isotope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Half-life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</a:t>
                      </a:r>
                      <a:r>
                        <a:rPr lang="fr-FR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117461"/>
                  </a:ext>
                </a:extLst>
              </a:tr>
              <a:tr h="701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¹⁹²Ir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(Iridium-192)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73.8 days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 keV (</a:t>
                      </a: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HDR: cervix, breast, head &amp; neck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616908"/>
                  </a:ext>
                </a:extLst>
              </a:tr>
              <a:tr h="701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¹²⁵I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(Iodine-125)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59.4 days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keV (</a:t>
                      </a: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LDR: prostate permanent implant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366654"/>
                  </a:ext>
                </a:extLst>
              </a:tr>
              <a:tr h="701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¹⁰³Pd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(Palladium-103)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 days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keV (</a:t>
                      </a: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LDR: prostate (low-grade)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079442"/>
                  </a:ext>
                </a:extLst>
              </a:tr>
              <a:tr h="701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⁶⁰Co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(Cobalt-60)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5.27 years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1.25 MeV (</a:t>
                      </a: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HDR alternative to Ir-192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248621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09682B3A-8D38-532A-60A8-BFAB893EDE93}"/>
              </a:ext>
            </a:extLst>
          </p:cNvPr>
          <p:cNvSpPr txBox="1"/>
          <p:nvPr/>
        </p:nvSpPr>
        <p:spPr>
          <a:xfrm>
            <a:off x="304799" y="1098805"/>
            <a:ext cx="11048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internal radiation therapy where sealed radioactive sources are placed directly into or adjacent to a tumor, providing highly localized, high-dose treatment. 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14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FCFE-9EBB-0C8C-550F-A4A00A1E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A46E312-9DB0-243D-8DA4-B240087BA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7CF89-9A1D-44B2-0F1D-5A10BCC063A1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latin typeface="Lora" pitchFamily="2" charset="0"/>
              </a:rPr>
              <a:t>                                   </a:t>
            </a:r>
            <a:r>
              <a:rPr lang="fr-FR" b="1" err="1">
                <a:latin typeface="Lora" pitchFamily="2" charset="0"/>
              </a:rPr>
              <a:t>Nuclear</a:t>
            </a:r>
            <a:r>
              <a:rPr lang="fr-FR" b="1">
                <a:latin typeface="Lora" pitchFamily="2" charset="0"/>
              </a:rPr>
              <a:t> Imaging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A1511-106A-7FC7-E423-E645D1581C11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AADAC-B304-E730-D206-69A3A494C6D4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93B80B7-89DD-66A8-5904-FB9D382A63C0}"/>
              </a:ext>
            </a:extLst>
          </p:cNvPr>
          <p:cNvSpPr/>
          <p:nvPr/>
        </p:nvSpPr>
        <p:spPr>
          <a:xfrm>
            <a:off x="477079" y="105400"/>
            <a:ext cx="10972800" cy="39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B) Brachytherapy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D9355D3-40F7-8CB4-D840-FA44205C4E0D}"/>
              </a:ext>
            </a:extLst>
          </p:cNvPr>
          <p:cNvSpPr/>
          <p:nvPr/>
        </p:nvSpPr>
        <p:spPr>
          <a:xfrm>
            <a:off x="304800" y="2522758"/>
            <a:ext cx="4412974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6565" indent="-456565">
              <a:lnSpc>
                <a:spcPct val="120000"/>
              </a:lnSpc>
              <a:spcAft>
                <a:spcPts val="533"/>
              </a:spcAft>
              <a:buSzPct val="100000"/>
              <a:buChar char="•"/>
            </a:pPr>
            <a:endParaRPr lang="en-US" sz="1700">
              <a:latin typeface="Aptos Display"/>
              <a:cs typeface="Times New Roman" panose="02020603050405020304" pitchFamily="18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67A63BC-A2EE-0C28-C499-1ECF4887EC35}"/>
              </a:ext>
            </a:extLst>
          </p:cNvPr>
          <p:cNvSpPr txBox="1"/>
          <p:nvPr/>
        </p:nvSpPr>
        <p:spPr>
          <a:xfrm>
            <a:off x="172064" y="757165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Brachytherapy is therefore classified by dose rate:</a:t>
            </a:r>
            <a:endParaRPr lang="fr-FR" b="1">
              <a:solidFill>
                <a:srgbClr val="0585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E43F0CF3-B3E2-F92A-0CB4-C3FCBA846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07650"/>
              </p:ext>
            </p:extLst>
          </p:nvPr>
        </p:nvGraphicFramePr>
        <p:xfrm>
          <a:off x="172066" y="1316817"/>
          <a:ext cx="4975122" cy="4724400"/>
        </p:xfrm>
        <a:graphic>
          <a:graphicData uri="http://schemas.openxmlformats.org/drawingml/2006/table">
            <a:tbl>
              <a:tblPr/>
              <a:tblGrid>
                <a:gridCol w="1658374">
                  <a:extLst>
                    <a:ext uri="{9D8B030D-6E8A-4147-A177-3AD203B41FA5}">
                      <a16:colId xmlns:a16="http://schemas.microsoft.com/office/drawing/2014/main" val="1970068384"/>
                    </a:ext>
                  </a:extLst>
                </a:gridCol>
                <a:gridCol w="1658374">
                  <a:extLst>
                    <a:ext uri="{9D8B030D-6E8A-4147-A177-3AD203B41FA5}">
                      <a16:colId xmlns:a16="http://schemas.microsoft.com/office/drawing/2014/main" val="847603841"/>
                    </a:ext>
                  </a:extLst>
                </a:gridCol>
                <a:gridCol w="1658374">
                  <a:extLst>
                    <a:ext uri="{9D8B030D-6E8A-4147-A177-3AD203B41FA5}">
                      <a16:colId xmlns:a16="http://schemas.microsoft.com/office/drawing/2014/main" val="443814489"/>
                    </a:ext>
                  </a:extLst>
                </a:gridCol>
              </a:tblGrid>
              <a:tr h="3966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Dose rate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</a:t>
                      </a:r>
                      <a:r>
                        <a:rPr lang="fr-FR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</a:t>
                      </a:r>
                      <a:endParaRPr lang="fr-FR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058236"/>
                  </a:ext>
                </a:extLst>
              </a:tr>
              <a:tr h="116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(Low Dose Rate)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0.4–2 Gy/h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Seeds implanted permanently; slow continuous irradiation over weeks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324597"/>
                  </a:ext>
                </a:extLst>
              </a:tr>
              <a:tr h="10702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HDR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(High Dose Rate)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12 Gy/h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inserted temporarily for minutes; patient goes home same day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620844"/>
                  </a:ext>
                </a:extLst>
              </a:tr>
              <a:tr h="9067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PDR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(Pulsed Dose Rate)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Pulses of ~0.5 Gy/h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Hourly pulses simulating LDR biology with HDR equipment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263020"/>
                  </a:ext>
                </a:extLst>
              </a:tr>
            </a:tbl>
          </a:graphicData>
        </a:graphic>
      </p:graphicFrame>
      <p:sp>
        <p:nvSpPr>
          <p:cNvPr id="29" name="ZoneTexte 28">
            <a:extLst>
              <a:ext uri="{FF2B5EF4-FFF2-40B4-BE49-F238E27FC236}">
                <a16:creationId xmlns:a16="http://schemas.microsoft.com/office/drawing/2014/main" id="{59C018F5-7A3A-3D1A-7986-5E5B830A0E5B}"/>
              </a:ext>
            </a:extLst>
          </p:cNvPr>
          <p:cNvSpPr txBox="1"/>
          <p:nvPr/>
        </p:nvSpPr>
        <p:spPr>
          <a:xfrm>
            <a:off x="5600700" y="757165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1" i="0" err="1">
                <a:solidFill>
                  <a:srgbClr val="058593"/>
                </a:solidFill>
                <a:effectLst/>
                <a:latin typeface="pplxSerif"/>
              </a:rPr>
              <a:t>Clinical</a:t>
            </a:r>
            <a:r>
              <a:rPr lang="fr-FR" b="1" i="0">
                <a:solidFill>
                  <a:srgbClr val="058593"/>
                </a:solidFill>
                <a:effectLst/>
                <a:latin typeface="pplxSerif"/>
              </a:rPr>
              <a:t> Applications</a:t>
            </a:r>
            <a:r>
              <a:rPr lang="fr-FR" b="1">
                <a:solidFill>
                  <a:srgbClr val="058593"/>
                </a:solidFill>
                <a:latin typeface="pplxSerif"/>
              </a:rPr>
              <a:t>: </a:t>
            </a:r>
            <a:endParaRPr lang="fr-FR" b="1" i="0">
              <a:solidFill>
                <a:srgbClr val="058593"/>
              </a:solidFill>
              <a:effectLst/>
              <a:latin typeface="pplxSerif"/>
            </a:endParaRPr>
          </a:p>
        </p:txBody>
      </p:sp>
      <p:pic>
        <p:nvPicPr>
          <p:cNvPr id="30" name="Picture 8">
            <a:extLst>
              <a:ext uri="{FF2B5EF4-FFF2-40B4-BE49-F238E27FC236}">
                <a16:creationId xmlns:a16="http://schemas.microsoft.com/office/drawing/2014/main" id="{F4E01DF6-E872-A6BD-73FE-B015C804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441" y="1132553"/>
            <a:ext cx="3374654" cy="248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Head and Neck Brachytherapy: A Description of Methods and a Summary of  Results | Springer Nature Link">
            <a:extLst>
              <a:ext uri="{FF2B5EF4-FFF2-40B4-BE49-F238E27FC236}">
                <a16:creationId xmlns:a16="http://schemas.microsoft.com/office/drawing/2014/main" id="{A01FCFA4-EDAF-400B-AF93-495AF804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198" y="3679017"/>
            <a:ext cx="3316852" cy="248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49A41E49-DC79-DCD7-C27F-8FFEAD3C1D92}"/>
              </a:ext>
            </a:extLst>
          </p:cNvPr>
          <p:cNvSpPr txBox="1"/>
          <p:nvPr/>
        </p:nvSpPr>
        <p:spPr>
          <a:xfrm>
            <a:off x="6736326" y="2038537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>
                <a:solidFill>
                  <a:srgbClr val="FF0000"/>
                </a:solidFill>
                <a:effectLst/>
                <a:latin typeface="pplxSerif"/>
              </a:rPr>
              <a:t>Prostate cancer </a:t>
            </a:r>
            <a:endParaRPr lang="fr-FR">
              <a:solidFill>
                <a:srgbClr val="FF0000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3F26DCE-1133-E60B-4B94-76E173124752}"/>
              </a:ext>
            </a:extLst>
          </p:cNvPr>
          <p:cNvSpPr txBox="1"/>
          <p:nvPr/>
        </p:nvSpPr>
        <p:spPr>
          <a:xfrm>
            <a:off x="9526962" y="4759846"/>
            <a:ext cx="239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neck cancers</a:t>
            </a:r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18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5BD1-E260-D883-0124-A33EB222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10675C3-4308-7609-976F-B745F4A27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BAAD7-EECB-E729-4BC9-B81E0CBCDCA9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b="1">
                <a:latin typeface="Lora"/>
              </a:rPr>
              <a:t>                                   Nuclear Therapy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CE6CD-A71E-E38D-FD8E-D5AFE1D9AB6E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C6EC95-AA72-A76A-C907-0B534B0612B4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E45376F-DF9B-4AB7-7BA4-173E9EAEB835}"/>
              </a:ext>
            </a:extLst>
          </p:cNvPr>
          <p:cNvSpPr/>
          <p:nvPr/>
        </p:nvSpPr>
        <p:spPr>
          <a:xfrm>
            <a:off x="609600" y="97339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C) Targeted radionuclide therapy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8CCFA57-1D0F-190F-01D7-91D827097922}"/>
              </a:ext>
            </a:extLst>
          </p:cNvPr>
          <p:cNvSpPr/>
          <p:nvPr/>
        </p:nvSpPr>
        <p:spPr>
          <a:xfrm>
            <a:off x="487680" y="1066000"/>
            <a:ext cx="10972800" cy="639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TRT is a systemic treatment that uses radiopharmaceuticals , radioactive atoms chemically coupled to biological carrier molecules  to deliver ionizing radiation selectively to cancer cells.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26D02A-E786-7323-9351-9F2DB5B44194}"/>
              </a:ext>
            </a:extLst>
          </p:cNvPr>
          <p:cNvSpPr/>
          <p:nvPr/>
        </p:nvSpPr>
        <p:spPr>
          <a:xfrm>
            <a:off x="168729" y="736435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E7C86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Principle</a:t>
            </a:r>
            <a:endParaRPr lang="en-US" sz="18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2642198-EA95-3C93-F209-787F4B535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78" y="1716520"/>
            <a:ext cx="6803025" cy="458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405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4D08-48DD-7B5C-0ED4-606ECFCF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3CD6448-B91E-5D7A-4C37-842345CEB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34C71-03C9-B517-4FC9-7D89EDC78BE7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b="1">
                <a:latin typeface="Lora"/>
              </a:rPr>
              <a:t>                                   Nuclear Therapy</a:t>
            </a:r>
            <a:endParaRPr lang="en-US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DE8B19-130D-7562-6984-ABF366FFDF0E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98544-F8FF-CE8E-2020-94AF783A9A16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1690491E-7649-2E89-B6F4-610EF5CF1D1C}"/>
              </a:ext>
            </a:extLst>
          </p:cNvPr>
          <p:cNvSpPr/>
          <p:nvPr/>
        </p:nvSpPr>
        <p:spPr>
          <a:xfrm>
            <a:off x="609600" y="97339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ea typeface="Trebuchet MS" pitchFamily="34" charset="-122"/>
                <a:cs typeface="Times New Roman"/>
              </a:rPr>
              <a:t>C) Targeted radionuclide therapy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2D6CC94-E34B-A58E-9F71-2BC3D96A000E}"/>
              </a:ext>
            </a:extLst>
          </p:cNvPr>
          <p:cNvSpPr/>
          <p:nvPr/>
        </p:nvSpPr>
        <p:spPr>
          <a:xfrm>
            <a:off x="609600" y="2040430"/>
            <a:ext cx="4766441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spcAft>
                <a:spcPts val="533"/>
              </a:spcAft>
              <a:buSzPct val="100000"/>
            </a:pPr>
            <a:endParaRPr lang="en-US" sz="1700">
              <a:latin typeface="Aptos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31B04602-A9B1-2C1B-CEB1-CC7C268D9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49203"/>
              </p:ext>
            </p:extLst>
          </p:nvPr>
        </p:nvGraphicFramePr>
        <p:xfrm>
          <a:off x="315686" y="1639442"/>
          <a:ext cx="10744200" cy="4250080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3208056136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4094711838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729514059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558938372"/>
                    </a:ext>
                  </a:extLst>
                </a:gridCol>
              </a:tblGrid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¹³¹I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¹⁷⁷Lu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²²³Ra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705145"/>
                  </a:ext>
                </a:extLst>
              </a:tr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Particle type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β⁻ + γ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β⁻ + γ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(+ β, γ </a:t>
                      </a: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411240"/>
                  </a:ext>
                </a:extLst>
              </a:tr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Half-life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8.05 days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6.65 days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11.4 </a:t>
                      </a:r>
                      <a:r>
                        <a:rPr lang="fr-FR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  <a:endParaRPr lang="fr-FR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513575"/>
                  </a:ext>
                </a:extLst>
              </a:tr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 in tissue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~2.4 mm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~1.5 mm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0.1 mm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859141"/>
                  </a:ext>
                </a:extLst>
              </a:tr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(~0.5 keV/µm)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Low–medium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(~80 keV/µm)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780520"/>
                  </a:ext>
                </a:extLst>
              </a:tr>
              <a:tr h="751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Targeting mechanism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 symporter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SSTR₂ receptor (NETs) / PSMA (prostate)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Calcium mimetic → hydroxyapatite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77701"/>
                  </a:ext>
                </a:extLst>
              </a:tr>
              <a:tr h="7519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FDA approval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Decades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 (Lutathera) / 2022 (Pluvicto)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 (Xofigo)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383582"/>
                  </a:ext>
                </a:extLst>
              </a:tr>
              <a:tr h="4577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Theranostic pair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¹²³I (SPECT)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⁶⁸Ga-DOTATATE (PET)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direct pair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279384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361FC935-6321-5FA6-E2B6-896221CC6D7A}"/>
              </a:ext>
            </a:extLst>
          </p:cNvPr>
          <p:cNvSpPr txBox="1"/>
          <p:nvPr/>
        </p:nvSpPr>
        <p:spPr>
          <a:xfrm>
            <a:off x="2151290" y="106476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>
                <a:solidFill>
                  <a:srgbClr val="0585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Summary of the 3 TRT Agents</a:t>
            </a:r>
          </a:p>
        </p:txBody>
      </p:sp>
    </p:spTree>
    <p:extLst>
      <p:ext uri="{BB962C8B-B14F-4D97-AF65-F5344CB8AC3E}">
        <p14:creationId xmlns:p14="http://schemas.microsoft.com/office/powerpoint/2010/main" val="2634118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91F6-F0CB-BFA9-8C05-D5A4FBA44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92A1BEB-3C5D-31C0-4573-C0E1F2BC5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9CFA8-8740-8620-2EC2-9B7C63441277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Challenges &amp; Perspectives</a:t>
            </a:r>
            <a:endParaRPr lang="fr-FR" b="1">
              <a:latin typeface="L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7119E-D104-9B74-48AB-792FDC63EFDA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C30EF-8763-1783-58E3-BA0D8B92586C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Aptos Display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E41C3C-11E4-D460-2DF3-FD23AF2D75A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91082" y="3829304"/>
            <a:ext cx="2057400" cy="2057400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C0046A-8EA8-C9FB-B767-DAA9C4BFCCFC}"/>
              </a:ext>
            </a:extLst>
          </p:cNvPr>
          <p:cNvSpPr txBox="1"/>
          <p:nvPr/>
        </p:nvSpPr>
        <p:spPr>
          <a:xfrm>
            <a:off x="3260620" y="635536"/>
            <a:ext cx="5667889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 rtl="0">
              <a:buFont typeface="Wingdings"/>
              <a:buChar char="Ø"/>
            </a:pPr>
            <a:r>
              <a:rPr lang="fr-FR" sz="1700" b="1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Dose </a:t>
            </a:r>
            <a:r>
              <a:rPr lang="fr-FR" sz="1700" b="1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Optimization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 (ALARA, inverse planning)</a:t>
            </a:r>
            <a:endParaRPr lang="fr-FR"/>
          </a:p>
          <a:p>
            <a:pPr marL="285750" indent="-285750" algn="l" rtl="0">
              <a:buFont typeface="Wingdings"/>
              <a:buChar char="Ø"/>
            </a:pPr>
            <a:r>
              <a:rPr lang="fr-FR" sz="1700" b="1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Spatial </a:t>
            </a:r>
            <a:r>
              <a:rPr lang="fr-FR" sz="1700" b="1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Precision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 (IGRT, </a:t>
            </a:r>
            <a:r>
              <a:rPr lang="fr-FR" sz="1700" b="0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respiratory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 </a:t>
            </a:r>
            <a:r>
              <a:rPr lang="fr-FR" sz="1700" b="0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gating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)</a:t>
            </a:r>
          </a:p>
          <a:p>
            <a:pPr marL="285750" indent="-285750" algn="l" rtl="0">
              <a:buFont typeface="Wingdings"/>
              <a:buChar char="Ø"/>
            </a:pPr>
            <a:r>
              <a:rPr lang="fr-FR" sz="1700" b="1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Radiation Protection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 (</a:t>
            </a:r>
            <a:r>
              <a:rPr lang="fr-FR" sz="1700" b="0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shielding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, zoning, </a:t>
            </a:r>
            <a:r>
              <a:rPr lang="fr-FR" sz="1700" b="0" i="0" kern="1200" baseline="0" err="1">
                <a:highlight>
                  <a:srgbClr val="00FFFF"/>
                </a:highlight>
                <a:latin typeface="Times New Roman"/>
                <a:cs typeface="Times New Roman"/>
              </a:rPr>
              <a:t>risks</a:t>
            </a:r>
            <a:r>
              <a:rPr lang="fr-FR" sz="1700" b="0" i="0" kern="1200" baseline="0">
                <a:highlight>
                  <a:srgbClr val="00FFFF"/>
                </a:highlight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0" name="ZoneTexte 12">
            <a:extLst>
              <a:ext uri="{FF2B5EF4-FFF2-40B4-BE49-F238E27FC236}">
                <a16:creationId xmlns:a16="http://schemas.microsoft.com/office/drawing/2014/main" id="{2439E280-5B86-41A9-B0C2-DBF0DB686DB0}"/>
              </a:ext>
            </a:extLst>
          </p:cNvPr>
          <p:cNvSpPr txBox="1"/>
          <p:nvPr/>
        </p:nvSpPr>
        <p:spPr>
          <a:xfrm>
            <a:off x="293327" y="57939"/>
            <a:ext cx="84001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chemeClr val="bg1"/>
                </a:solidFill>
                <a:latin typeface="Lora"/>
              </a:rPr>
              <a:t>4) CHALLENGES AND FUTURE PERSECTIVES</a:t>
            </a:r>
            <a:r>
              <a:rPr lang="fr-FR" sz="2800" b="1" u="sng">
                <a:solidFill>
                  <a:schemeClr val="bg1"/>
                </a:solidFill>
                <a:latin typeface="Lora"/>
              </a:rPr>
              <a:t>:</a:t>
            </a:r>
            <a:endParaRPr lang="en-US" sz="2800" b="1" u="sng">
              <a:solidFill>
                <a:schemeClr val="bg1"/>
              </a:solidFill>
              <a:latin typeface="Lor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0F256F-1F9D-3E6D-BA81-5C01EF6C4D4D}"/>
              </a:ext>
            </a:extLst>
          </p:cNvPr>
          <p:cNvSpPr/>
          <p:nvPr/>
        </p:nvSpPr>
        <p:spPr>
          <a:xfrm>
            <a:off x="2107720" y="1518250"/>
            <a:ext cx="7907548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ptos Display"/>
              </a:rPr>
              <a:t>Dose Optimization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271FC95F-373A-92E3-D297-4E9D821A9665}"/>
              </a:ext>
            </a:extLst>
          </p:cNvPr>
          <p:cNvSpPr txBox="1"/>
          <p:nvPr/>
        </p:nvSpPr>
        <p:spPr>
          <a:xfrm>
            <a:off x="291483" y="2323982"/>
            <a:ext cx="11532952" cy="437042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u="sng">
                <a:solidFill>
                  <a:srgbClr val="2CA8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Challenge</a:t>
            </a:r>
            <a:endParaRPr lang="en-US" sz="2000" u="sng">
              <a:solidFill>
                <a:srgbClr val="2CA8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•High dose → toxicity &amp; healthy tissue damage </a:t>
            </a:r>
          </a:p>
          <a:p>
            <a:pPr algn="ctr"/>
            <a:r>
              <a:rPr lang="en-US" sz="2000">
                <a:latin typeface="Times New Roman"/>
                <a:cs typeface="Times New Roman"/>
              </a:rPr>
              <a:t>•Low dose → poor image quality or ineffective treatment</a:t>
            </a:r>
            <a:r>
              <a:rPr lang="en-US" sz="2400">
                <a:latin typeface="Times New Roman"/>
                <a:cs typeface="Times New Roman"/>
              </a:rPr>
              <a:t> </a:t>
            </a:r>
          </a:p>
          <a:p>
            <a:endParaRPr lang="en-US" sz="1700">
              <a:latin typeface="Aptos"/>
              <a:cs typeface="Times New Roman"/>
            </a:endParaRPr>
          </a:p>
          <a:p>
            <a:r>
              <a:rPr lang="en-US" b="1">
                <a:latin typeface="Aptos"/>
                <a:cs typeface="Times New Roman"/>
              </a:rPr>
              <a:t>             </a:t>
            </a:r>
            <a:r>
              <a:rPr lang="en-US" b="1">
                <a:solidFill>
                  <a:srgbClr val="2CA8B2"/>
                </a:solidFill>
                <a:latin typeface="Aptos"/>
                <a:cs typeface="Times New Roman"/>
              </a:rPr>
              <a:t>  </a:t>
            </a:r>
            <a:r>
              <a:rPr lang="en-US" b="1" u="sng">
                <a:solidFill>
                  <a:srgbClr val="2CA8B2"/>
                </a:solidFill>
                <a:latin typeface="Aptos"/>
                <a:cs typeface="Times New Roman"/>
              </a:rPr>
              <a:t>Key Concepts</a:t>
            </a:r>
            <a:endParaRPr lang="en-US" u="sng">
              <a:solidFill>
                <a:srgbClr val="2CA8B2"/>
              </a:solidFill>
              <a:latin typeface="Aptos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•</a:t>
            </a:r>
            <a:r>
              <a:rPr lang="en-US" b="1">
                <a:latin typeface="Times New Roman"/>
                <a:cs typeface="Times New Roman"/>
              </a:rPr>
              <a:t>ALARA principle</a:t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i="1">
                <a:latin typeface="Times New Roman"/>
                <a:cs typeface="Times New Roman"/>
              </a:rPr>
              <a:t>(As Low As Reasonably Achievable)</a:t>
            </a:r>
            <a:r>
              <a:rPr lang="en-US">
                <a:latin typeface="Times New Roman"/>
                <a:cs typeface="Times New Roman"/>
              </a:rPr>
              <a:t> </a:t>
            </a:r>
          </a:p>
          <a:p>
            <a:r>
              <a:rPr lang="en-US">
                <a:latin typeface="Times New Roman"/>
                <a:cs typeface="Times New Roman"/>
              </a:rPr>
              <a:t>•</a:t>
            </a:r>
            <a:r>
              <a:rPr lang="en-US" b="1">
                <a:latin typeface="Times New Roman"/>
                <a:cs typeface="Times New Roman"/>
              </a:rPr>
              <a:t>Inverse planning</a:t>
            </a:r>
            <a:r>
              <a:rPr lang="en-US">
                <a:latin typeface="Times New Roman"/>
                <a:cs typeface="Times New Roman"/>
              </a:rPr>
              <a:t> </a:t>
            </a:r>
          </a:p>
          <a:p>
            <a:r>
              <a:rPr lang="en-US">
                <a:latin typeface="Times New Roman"/>
                <a:cs typeface="Times New Roman"/>
              </a:rPr>
              <a:t>    Maximum dose to organs at risk (OAR) </a:t>
            </a:r>
          </a:p>
          <a:p>
            <a:r>
              <a:rPr lang="en-US">
                <a:latin typeface="Times New Roman"/>
                <a:cs typeface="Times New Roman"/>
              </a:rPr>
              <a:t>     Minimum dose to the tumor </a:t>
            </a:r>
          </a:p>
          <a:p>
            <a:r>
              <a:rPr lang="en-US">
                <a:latin typeface="Times New Roman"/>
                <a:cs typeface="Times New Roman"/>
              </a:rPr>
              <a:t>•</a:t>
            </a:r>
            <a:r>
              <a:rPr lang="en-US" b="1">
                <a:latin typeface="Times New Roman"/>
                <a:cs typeface="Times New Roman"/>
              </a:rPr>
              <a:t>Optimization algorithms</a:t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 b="1">
                <a:latin typeface="Times New Roman"/>
                <a:cs typeface="Times New Roman"/>
              </a:rPr>
              <a:t> → balance between: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      tumor coverage </a:t>
            </a:r>
          </a:p>
          <a:p>
            <a:r>
              <a:rPr lang="en-US">
                <a:latin typeface="Times New Roman"/>
                <a:cs typeface="Times New Roman"/>
              </a:rPr>
              <a:t>       healthy tissue protection </a:t>
            </a:r>
          </a:p>
          <a:p>
            <a:endParaRPr lang="en-US" sz="1700"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060DE-D62E-4303-5ED7-1484E09F8EA4}"/>
              </a:ext>
            </a:extLst>
          </p:cNvPr>
          <p:cNvSpPr txBox="1"/>
          <p:nvPr/>
        </p:nvSpPr>
        <p:spPr>
          <a:xfrm>
            <a:off x="6239773" y="413349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u="sng" strike="noStrike" baseline="0">
                <a:solidFill>
                  <a:srgbClr val="2CA8B2"/>
                </a:solidFill>
                <a:latin typeface="Times New Roman"/>
                <a:cs typeface="Times New Roman"/>
              </a:rPr>
              <a:t>Goal</a:t>
            </a:r>
            <a:r>
              <a:rPr lang="en-US" sz="2400" b="0" i="0" u="sng">
                <a:solidFill>
                  <a:srgbClr val="2CA8B2"/>
                </a:solidFill>
                <a:latin typeface="Times New Roman"/>
                <a:cs typeface="Times New Roman"/>
              </a:rPr>
              <a:t>​</a:t>
            </a:r>
            <a:endParaRPr lang="en-US" sz="2400" u="sng">
              <a:solidFill>
                <a:srgbClr val="2CA8B2"/>
              </a:solidFill>
              <a:latin typeface="Times New Roman"/>
              <a:cs typeface="Times New Roman"/>
            </a:endParaRPr>
          </a:p>
          <a:p>
            <a:pPr algn="ctr" rtl="0"/>
            <a:r>
              <a:rPr lang="en-US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Deliver the most effective dose while minimizing biological risks.</a:t>
            </a:r>
            <a:r>
              <a:rPr lang="en-US" sz="2400" b="0" i="0">
                <a:highlight>
                  <a:srgbClr val="FFFF00"/>
                </a:highlight>
                <a:latin typeface="Times New Roman"/>
                <a:cs typeface="Times New Roman"/>
              </a:rPr>
              <a:t>​</a:t>
            </a:r>
          </a:p>
          <a:p>
            <a:pPr algn="l" rtl="0"/>
            <a:r>
              <a:rPr lang="en-US" sz="1800" b="0" i="0">
                <a:latin typeface="Aptos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0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F663-9F4E-AC33-5BB5-2CDDA661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7836AD-42F3-6677-BBDF-0599C06D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0ED9D-1FA9-B815-061E-281C9AF33F59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Challenges &amp; Perspectives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EBEED-D67D-A674-2520-DC3DC2F6E652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2AD1BB-2E2F-4300-22BF-F0B5448BC9A8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i="0" u="none" strike="noStrike" baseline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Spatial Precision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D5A0A-A360-2CDD-6B24-A86EE84B61FD}"/>
              </a:ext>
            </a:extLst>
          </p:cNvPr>
          <p:cNvSpPr txBox="1"/>
          <p:nvPr/>
        </p:nvSpPr>
        <p:spPr>
          <a:xfrm>
            <a:off x="263928" y="632918"/>
            <a:ext cx="4940482" cy="5786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u="sng"/>
              <a:t>Main Challenges</a:t>
            </a:r>
            <a:endParaRPr lang="en-US" sz="2000" u="sng"/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/>
              <a:t>Patient motion </a:t>
            </a:r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/>
              <a:t>Internal organ motion (breathing, organs) </a:t>
            </a:r>
          </a:p>
          <a:p>
            <a:r>
              <a:rPr lang="en-US" sz="2000" b="1"/>
              <a:t> Advanced Techniques</a:t>
            </a:r>
            <a:endParaRPr lang="en-US" sz="2000"/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 b="1"/>
              <a:t>IGRT (Image-Guided Radiotherapy)</a:t>
            </a:r>
            <a:br>
              <a:rPr lang="en-US" sz="2000" b="1"/>
            </a:br>
            <a:r>
              <a:rPr lang="en-US" sz="2000" b="1"/>
              <a:t> → real-time </a:t>
            </a:r>
            <a:r>
              <a:rPr lang="en-US" sz="2000"/>
              <a:t>imaging for accurate positioning </a:t>
            </a:r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 b="1"/>
              <a:t>Respiratory gating</a:t>
            </a:r>
            <a:br>
              <a:rPr lang="en-US" sz="2000" b="1"/>
            </a:br>
            <a:r>
              <a:rPr lang="en-US" sz="2000" b="1"/>
              <a:t> → </a:t>
            </a:r>
            <a:r>
              <a:rPr lang="en-US" sz="2000"/>
              <a:t>synchronization with the breathing cycle </a:t>
            </a:r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 b="1"/>
              <a:t>PTV safety margins</a:t>
            </a:r>
            <a:br>
              <a:rPr lang="en-US" sz="2000" b="1"/>
            </a:br>
            <a:r>
              <a:rPr lang="en-US" sz="2000" b="1"/>
              <a:t> → </a:t>
            </a:r>
            <a:r>
              <a:rPr lang="en-US" sz="2000"/>
              <a:t>compensate for uncertainties and motion </a:t>
            </a:r>
          </a:p>
          <a:p>
            <a:endParaRPr lang="en-US" sz="2000">
              <a:ea typeface="+mn-lt"/>
              <a:cs typeface="+mn-lt"/>
            </a:endParaRPr>
          </a:p>
          <a:p>
            <a:endParaRPr lang="en-US" sz="2000">
              <a:ea typeface="+mn-lt"/>
              <a:cs typeface="+mn-lt"/>
            </a:endParaRPr>
          </a:p>
          <a:p>
            <a:pPr algn="ctr"/>
            <a:r>
              <a:rPr lang="en-US" sz="2400" b="1" u="sng">
                <a:ea typeface="+mn-lt"/>
                <a:cs typeface="+mn-lt"/>
              </a:rPr>
              <a:t>Goal</a:t>
            </a:r>
            <a:endParaRPr lang="en-US" sz="2400" u="sng"/>
          </a:p>
          <a:p>
            <a:pPr algn="ctr"/>
            <a:r>
              <a:rPr lang="en-US" sz="2400">
                <a:highlight>
                  <a:srgbClr val="FFFF00"/>
                </a:highlight>
              </a:rPr>
              <a:t>Increase tumor targeting accuracy while protecting healthy tissues.</a:t>
            </a: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1EE19E-1100-0351-876C-BE5B8EDB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161" y="960329"/>
            <a:ext cx="6667046" cy="52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71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61DB-B9F7-AA29-9E55-031EDC27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D73CB91-4DF0-774A-3058-9D49E8697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09325-04AD-D535-9131-20FFDDB3F3B7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Challenges &amp; Perspectives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2A6E7-EAC6-303C-25E8-58570B611785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E3DD2-9468-9722-2ED5-AD5A3BDDD6FF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i="0" u="none" strike="noStrike" baseline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Spatial Precision</a:t>
            </a:r>
            <a:endParaRPr lang="en-US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389C34-5613-8131-F6AB-A301B880A56B}"/>
              </a:ext>
            </a:extLst>
          </p:cNvPr>
          <p:cNvSpPr txBox="1"/>
          <p:nvPr/>
        </p:nvSpPr>
        <p:spPr>
          <a:xfrm>
            <a:off x="678203" y="1004261"/>
            <a:ext cx="519085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Respiratory gating</a:t>
            </a:r>
            <a:endParaRPr lang="en-US"/>
          </a:p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9E216-6840-325D-A6E5-204FB50EF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65" y="1710260"/>
            <a:ext cx="4894807" cy="4199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D3749C-B66B-C7A6-F8BD-5D387F5AC25A}"/>
              </a:ext>
            </a:extLst>
          </p:cNvPr>
          <p:cNvSpPr txBox="1"/>
          <p:nvPr/>
        </p:nvSpPr>
        <p:spPr>
          <a:xfrm>
            <a:off x="6990705" y="1825930"/>
            <a:ext cx="4173554" cy="4447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BFC3A-2B84-4E07-F11C-F976AF0D29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8163" t="-5757" r="25578" b="1406"/>
          <a:stretch>
            <a:fillRect/>
          </a:stretch>
        </p:blipFill>
        <p:spPr>
          <a:xfrm>
            <a:off x="2445317" y="1546689"/>
            <a:ext cx="9244027" cy="4362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B14E6B-83A6-2627-0D59-64D44E214B16}"/>
              </a:ext>
            </a:extLst>
          </p:cNvPr>
          <p:cNvSpPr txBox="1"/>
          <p:nvPr/>
        </p:nvSpPr>
        <p:spPr>
          <a:xfrm>
            <a:off x="6768984" y="1186854"/>
            <a:ext cx="464307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PTV safety margins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07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66359-ED71-3F30-59F3-6943A4A9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6E33C58-E2C2-EE7D-B9FB-BE40F004D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7F5E3-B43F-FFCE-FFC1-01165B4AF046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Challenges &amp; Perspectives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AC474F-7296-8403-7B22-FD871940BA2A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1EF73-F85C-20AD-DFB6-1B11D75642E4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i="0" u="none" strike="noStrike" baseline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Radiation Protection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41A02-66D3-04FA-1426-F53F43016328}"/>
              </a:ext>
            </a:extLst>
          </p:cNvPr>
          <p:cNvSpPr txBox="1"/>
          <p:nvPr/>
        </p:nvSpPr>
        <p:spPr>
          <a:xfrm>
            <a:off x="803044" y="2184181"/>
            <a:ext cx="450221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endParaRPr lang="fr-FR" sz="2000" b="1">
              <a:latin typeface="Aptos"/>
              <a:cs typeface="Times New Roman"/>
            </a:endParaRPr>
          </a:p>
          <a:p>
            <a:pPr marL="0" indent="0" algn="l" rtl="0"/>
            <a:r>
              <a:rPr lang="fr-FR" sz="2000" b="1" kern="1200">
                <a:latin typeface="Aptos"/>
                <a:cs typeface="Times New Roman"/>
              </a:rPr>
              <a:t> Fundamental Principles</a:t>
            </a:r>
          </a:p>
          <a:p>
            <a:pPr marL="228600" indent="-228600" algn="l" rtl="0">
              <a:buFont typeface="Arial"/>
              <a:buChar char="•"/>
            </a:pPr>
            <a:r>
              <a:rPr lang="fr-FR" sz="2000" b="1" kern="1200">
                <a:latin typeface="Aptos"/>
                <a:cs typeface="Times New Roman"/>
              </a:rPr>
              <a:t>Time</a:t>
            </a:r>
            <a:r>
              <a:rPr lang="fr-FR" sz="2000" kern="1200">
                <a:latin typeface="Aptos"/>
                <a:cs typeface="Times New Roman"/>
              </a:rPr>
              <a:t> → </a:t>
            </a:r>
            <a:r>
              <a:rPr lang="fr-FR" sz="2000" kern="1200" err="1">
                <a:latin typeface="Aptos"/>
                <a:cs typeface="Times New Roman"/>
              </a:rPr>
              <a:t>reduce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exposure</a:t>
            </a:r>
            <a:r>
              <a:rPr lang="fr-FR" sz="2000" kern="1200">
                <a:latin typeface="Aptos"/>
                <a:cs typeface="Times New Roman"/>
              </a:rPr>
              <a:t> duration </a:t>
            </a:r>
          </a:p>
          <a:p>
            <a:pPr marL="228600" indent="-228600" algn="l" rtl="0">
              <a:buFont typeface="Arial"/>
              <a:buChar char="•"/>
            </a:pPr>
            <a:r>
              <a:rPr lang="fr-FR" sz="2000" b="1" kern="1200">
                <a:latin typeface="Aptos"/>
                <a:cs typeface="Times New Roman"/>
              </a:rPr>
              <a:t>Distance</a:t>
            </a:r>
            <a:r>
              <a:rPr lang="fr-FR" sz="2000" kern="1200">
                <a:latin typeface="Aptos"/>
                <a:cs typeface="Times New Roman"/>
              </a:rPr>
              <a:t> → </a:t>
            </a:r>
            <a:r>
              <a:rPr lang="fr-FR" sz="2000" kern="1200" err="1">
                <a:latin typeface="Aptos"/>
                <a:cs typeface="Times New Roman"/>
              </a:rPr>
              <a:t>stay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away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from</a:t>
            </a:r>
            <a:r>
              <a:rPr lang="fr-FR" sz="2000" kern="1200">
                <a:latin typeface="Aptos"/>
                <a:cs typeface="Times New Roman"/>
              </a:rPr>
              <a:t> the source </a:t>
            </a:r>
          </a:p>
          <a:p>
            <a:pPr marL="228600" indent="-228600" algn="l" rtl="0">
              <a:buFont typeface="Arial"/>
              <a:buChar char="•"/>
            </a:pPr>
            <a:r>
              <a:rPr lang="fr-FR" sz="2000" b="1" kern="1200" err="1">
                <a:latin typeface="Aptos"/>
                <a:cs typeface="Times New Roman"/>
              </a:rPr>
              <a:t>Shielding</a:t>
            </a:r>
            <a:r>
              <a:rPr lang="fr-FR" sz="2000" kern="1200">
                <a:latin typeface="Aptos"/>
                <a:cs typeface="Times New Roman"/>
              </a:rPr>
              <a:t> → lead, </a:t>
            </a:r>
            <a:r>
              <a:rPr lang="fr-FR" sz="2000" kern="1200" err="1">
                <a:latin typeface="Aptos"/>
                <a:cs typeface="Times New Roman"/>
              </a:rPr>
              <a:t>concrete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barriers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B7456-C0F4-D17B-36A2-89A12CCF926B}"/>
              </a:ext>
            </a:extLst>
          </p:cNvPr>
          <p:cNvSpPr txBox="1"/>
          <p:nvPr/>
        </p:nvSpPr>
        <p:spPr>
          <a:xfrm>
            <a:off x="7727849" y="2476915"/>
            <a:ext cx="5138689" cy="1892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fr-FR" sz="2000" b="1" kern="1200">
                <a:latin typeface="Aptos"/>
              </a:rPr>
              <a:t>R</a:t>
            </a:r>
            <a:r>
              <a:rPr lang="fr-FR" sz="2000" b="1" kern="1200">
                <a:latin typeface="Aptos"/>
                <a:cs typeface="Times New Roman"/>
              </a:rPr>
              <a:t>adiation Risks</a:t>
            </a:r>
            <a:endParaRPr lang="en-US" sz="2000">
              <a:latin typeface="Aptos"/>
              <a:cs typeface="Times New Roman"/>
            </a:endParaRPr>
          </a:p>
          <a:p>
            <a:pPr marL="228600" indent="-228600" algn="l" rtl="0">
              <a:buFont typeface="Arial"/>
              <a:buChar char="•"/>
            </a:pPr>
            <a:r>
              <a:rPr lang="fr-FR" sz="2000" kern="1200" err="1">
                <a:latin typeface="Aptos"/>
                <a:cs typeface="Times New Roman"/>
              </a:rPr>
              <a:t>Deterministic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effects</a:t>
            </a:r>
            <a:br>
              <a:rPr lang="fr-FR" sz="2000" kern="1200">
                <a:latin typeface="Aptos"/>
                <a:cs typeface="Times New Roman"/>
              </a:rPr>
            </a:br>
            <a:r>
              <a:rPr lang="fr-FR" sz="2000" i="1" kern="1200">
                <a:latin typeface="Aptos"/>
                <a:cs typeface="Times New Roman"/>
              </a:rPr>
              <a:t>(</a:t>
            </a:r>
            <a:r>
              <a:rPr lang="fr-FR" sz="2000" i="1" kern="1200" err="1">
                <a:latin typeface="Aptos"/>
                <a:cs typeface="Times New Roman"/>
              </a:rPr>
              <a:t>burns</a:t>
            </a:r>
            <a:r>
              <a:rPr lang="fr-FR" sz="2000" i="1" kern="1200">
                <a:latin typeface="Aptos"/>
                <a:cs typeface="Times New Roman"/>
              </a:rPr>
              <a:t>, tissue damage)</a:t>
            </a:r>
            <a:r>
              <a:rPr lang="fr-FR" sz="2000" kern="1200">
                <a:latin typeface="Aptos"/>
                <a:cs typeface="Times New Roman"/>
              </a:rPr>
              <a:t> </a:t>
            </a:r>
          </a:p>
          <a:p>
            <a:pPr marL="228600" indent="-228600" algn="l" rtl="0">
              <a:buFont typeface="Arial"/>
              <a:buChar char="•"/>
            </a:pPr>
            <a:r>
              <a:rPr lang="fr-FR" sz="2000" kern="1200" err="1">
                <a:latin typeface="Aptos"/>
                <a:cs typeface="Times New Roman"/>
              </a:rPr>
              <a:t>Stochastic</a:t>
            </a:r>
            <a:r>
              <a:rPr lang="fr-FR" sz="2000" kern="1200">
                <a:latin typeface="Aptos"/>
                <a:cs typeface="Times New Roman"/>
              </a:rPr>
              <a:t> </a:t>
            </a:r>
            <a:r>
              <a:rPr lang="fr-FR" sz="2000" kern="1200" err="1">
                <a:latin typeface="Aptos"/>
                <a:cs typeface="Times New Roman"/>
              </a:rPr>
              <a:t>effects</a:t>
            </a:r>
            <a:br>
              <a:rPr lang="fr-FR" sz="2000" kern="1200">
                <a:latin typeface="Aptos"/>
                <a:cs typeface="Times New Roman"/>
              </a:rPr>
            </a:br>
            <a:r>
              <a:rPr lang="fr-FR" sz="2000" i="1" kern="1200">
                <a:latin typeface="Aptos"/>
                <a:cs typeface="Times New Roman"/>
              </a:rPr>
              <a:t>(cancer </a:t>
            </a:r>
            <a:r>
              <a:rPr lang="fr-FR" sz="2000" i="1" kern="1200" err="1">
                <a:latin typeface="Aptos"/>
                <a:cs typeface="Times New Roman"/>
              </a:rPr>
              <a:t>risk</a:t>
            </a:r>
            <a:r>
              <a:rPr lang="fr-FR" sz="2000" i="1" kern="1200">
                <a:latin typeface="Aptos"/>
                <a:cs typeface="Times New Roman"/>
              </a:rPr>
              <a:t>)</a:t>
            </a:r>
            <a:r>
              <a:rPr lang="fr-FR" sz="2000" kern="1200">
                <a:latin typeface="Aptos"/>
                <a:cs typeface="Times New Roman"/>
              </a:rPr>
              <a:t> </a:t>
            </a:r>
          </a:p>
          <a:p>
            <a:pPr marL="0" indent="0" algn="l" rtl="0"/>
            <a:endParaRPr lang="fr-FR" sz="1700" b="1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02B82-EC11-3C47-ACE6-AED2A9D21AE8}"/>
              </a:ext>
            </a:extLst>
          </p:cNvPr>
          <p:cNvSpPr txBox="1"/>
          <p:nvPr/>
        </p:nvSpPr>
        <p:spPr>
          <a:xfrm>
            <a:off x="3048000" y="740434"/>
            <a:ext cx="6096000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fr-FR" sz="2000" b="1" i="0" u="sng" strike="noStrike" baseline="0">
                <a:solidFill>
                  <a:srgbClr val="000000"/>
                </a:solidFill>
                <a:latin typeface="Aptos"/>
              </a:rPr>
              <a:t>Main Objectives</a:t>
            </a:r>
            <a:r>
              <a:rPr lang="fr-FR" sz="2000" b="0" i="0" u="sng">
                <a:latin typeface="Aptos"/>
              </a:rPr>
              <a:t>​</a:t>
            </a:r>
            <a:endParaRPr lang="en-US" sz="2000" u="sng"/>
          </a:p>
          <a:p>
            <a:pPr marL="228600" lvl="0" indent="-228600" algn="ctr" rtl="0">
              <a:buFont typeface="Arial,Sans-Serif"/>
              <a:buChar char="•"/>
            </a:pPr>
            <a:r>
              <a:rPr lang="fr-FR" sz="20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Protect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patients </a:t>
            </a:r>
            <a:r>
              <a:rPr lang="en-US" sz="2000" b="0" i="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ctr" rtl="0">
              <a:buFont typeface="Arial,Sans-Serif"/>
              <a:buChar char="•"/>
            </a:pPr>
            <a:r>
              <a:rPr lang="fr-FR" sz="20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Protect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fr-FR" sz="20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medical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staff </a:t>
            </a:r>
            <a:r>
              <a:rPr lang="en-US" sz="2000" b="0" i="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ctr" rtl="0">
              <a:buFont typeface="Arial,Sans-Serif"/>
              <a:buChar char="•"/>
            </a:pPr>
            <a:r>
              <a:rPr lang="fr-FR" sz="20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Reduce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fr-FR" sz="20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environmental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impact </a:t>
            </a:r>
            <a:r>
              <a:rPr lang="en-US" sz="2000" b="0" i="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Arial,Sans-Serif"/>
              <a:buChar char="•"/>
            </a:pPr>
            <a:endParaRPr lang="fr-FR" b="0" i="0">
              <a:latin typeface="Arial"/>
              <a:ea typeface="Arial"/>
              <a:cs typeface="Arial"/>
            </a:endParaRPr>
          </a:p>
          <a:p>
            <a:endParaRPr/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1592D-CBAB-9DB2-F654-F159D6E200DB}"/>
              </a:ext>
            </a:extLst>
          </p:cNvPr>
          <p:cNvSpPr txBox="1"/>
          <p:nvPr/>
        </p:nvSpPr>
        <p:spPr>
          <a:xfrm>
            <a:off x="3048000" y="473734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fr-FR" sz="2400" b="1" i="0" u="sng" strike="noStrike" baseline="0">
                <a:solidFill>
                  <a:srgbClr val="000000"/>
                </a:solidFill>
                <a:latin typeface="Aptos"/>
              </a:rPr>
              <a:t>Goal</a:t>
            </a:r>
            <a:r>
              <a:rPr lang="en-US" sz="2400" b="0" i="0">
                <a:latin typeface="Aptos"/>
              </a:rPr>
              <a:t>​</a:t>
            </a:r>
            <a:endParaRPr lang="en-US" sz="2400" b="0" i="0">
              <a:latin typeface="Aptos"/>
              <a:cs typeface="Times New Roman"/>
            </a:endParaRPr>
          </a:p>
          <a:p>
            <a:pPr lvl="0" algn="ctr" rtl="0"/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Minimize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 radiation </a:t>
            </a:r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risks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 </a:t>
            </a:r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while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 </a:t>
            </a:r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maintaining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 </a:t>
            </a:r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medical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 </a:t>
            </a:r>
            <a:r>
              <a:rPr lang="fr-FR" sz="2400" b="0" i="0" u="none" strike="noStrike" baseline="0" err="1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effectiveness</a:t>
            </a:r>
            <a:r>
              <a:rPr lang="fr-FR" sz="2400" b="0" i="0" u="none" strike="noStrike" baseline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rial"/>
                <a:cs typeface="Arial"/>
              </a:rPr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21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CAFB-1302-BE17-1C04-30A190E4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4FBCCAA-628D-D378-DDC2-7C47EAF51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D883FF-EDEE-90EC-546B-7FE7CBB90B89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solidFill>
                  <a:srgbClr val="FFFFFF"/>
                </a:solidFill>
                <a:latin typeface="Lora"/>
                <a:ea typeface="Lora"/>
                <a:cs typeface="Lora"/>
              </a:rPr>
              <a:t>Future</a:t>
            </a:r>
            <a:r>
              <a:rPr lang="fr-FR" sz="1800" b="1" i="0" u="none" strike="noStrike" baseline="0">
                <a:solidFill>
                  <a:srgbClr val="FFFFFF"/>
                </a:solidFill>
                <a:latin typeface="Lora"/>
                <a:ea typeface="Lora"/>
                <a:cs typeface="Lora"/>
              </a:rPr>
              <a:t> Perspectives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EF4A2-A482-D837-15AB-2B82A85B84F6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D65BD-928D-D8A1-0708-528CA21706EF}"/>
              </a:ext>
            </a:extLst>
          </p:cNvPr>
          <p:cNvSpPr/>
          <p:nvPr/>
        </p:nvSpPr>
        <p:spPr>
          <a:xfrm>
            <a:off x="0" y="10439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i="0" u="none" strike="noStrike" baseline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Future Perspectives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AAE35-EB5B-09DA-A3DF-F014E2C1EBF0}"/>
              </a:ext>
            </a:extLst>
          </p:cNvPr>
          <p:cNvSpPr txBox="1"/>
          <p:nvPr/>
        </p:nvSpPr>
        <p:spPr>
          <a:xfrm>
            <a:off x="276226" y="970878"/>
            <a:ext cx="5214607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u="sng" err="1">
                <a:latin typeface="Aptos"/>
                <a:cs typeface="Times New Roman"/>
              </a:rPr>
              <a:t>Theranostics</a:t>
            </a:r>
            <a:endParaRPr lang="en-US" sz="2000" u="sng" err="1">
              <a:latin typeface="Aptos"/>
              <a:cs typeface="Times New Roman"/>
            </a:endParaRPr>
          </a:p>
          <a:p>
            <a:r>
              <a:rPr lang="en-US" sz="2000">
                <a:latin typeface="Aptos"/>
                <a:cs typeface="Times New Roman"/>
              </a:rPr>
              <a:t>•Same molecule for diagnosis &amp; therapy </a:t>
            </a:r>
          </a:p>
          <a:p>
            <a:r>
              <a:rPr lang="en-US" sz="2000">
                <a:latin typeface="Aptos"/>
                <a:cs typeface="Times New Roman"/>
              </a:rPr>
              <a:t>•Tracer + therapeutic radionuclide </a:t>
            </a:r>
          </a:p>
          <a:p>
            <a:r>
              <a:rPr lang="en-US" sz="2000">
                <a:latin typeface="Aptos"/>
                <a:cs typeface="Times New Roman"/>
              </a:rPr>
              <a:t>•Personalized medicine </a:t>
            </a:r>
          </a:p>
          <a:p>
            <a:endParaRPr lang="en-US" sz="2000">
              <a:latin typeface="Aptos"/>
              <a:cs typeface="Times New Roman"/>
            </a:endParaRPr>
          </a:p>
          <a:p>
            <a:pPr algn="ctr"/>
            <a:r>
              <a:rPr lang="en-US" sz="2000" b="1" u="sng">
                <a:latin typeface="Aptos"/>
                <a:cs typeface="Times New Roman"/>
              </a:rPr>
              <a:t> Artificial Intelligence</a:t>
            </a:r>
            <a:endParaRPr lang="en-US" sz="2000" u="sng">
              <a:latin typeface="Aptos"/>
              <a:cs typeface="Times New Roman"/>
            </a:endParaRPr>
          </a:p>
          <a:p>
            <a:r>
              <a:rPr lang="en-US" sz="2000">
                <a:latin typeface="Aptos"/>
                <a:cs typeface="Times New Roman"/>
              </a:rPr>
              <a:t>•Automatic treatment optimization </a:t>
            </a:r>
          </a:p>
          <a:p>
            <a:r>
              <a:rPr lang="en-US" sz="2000">
                <a:latin typeface="Aptos"/>
                <a:cs typeface="Times New Roman"/>
              </a:rPr>
              <a:t>•Improved image reconstruction </a:t>
            </a:r>
          </a:p>
          <a:p>
            <a:r>
              <a:rPr lang="en-US" sz="2000">
                <a:latin typeface="Aptos"/>
                <a:cs typeface="Times New Roman"/>
              </a:rPr>
              <a:t>•Clinical decision support</a:t>
            </a:r>
          </a:p>
          <a:p>
            <a:pPr algn="l"/>
            <a:endParaRPr lang="en-US" sz="2000">
              <a:latin typeface="Aptos"/>
              <a:cs typeface="Times New Roman"/>
            </a:endParaRPr>
          </a:p>
          <a:p>
            <a:pPr algn="ctr"/>
            <a:r>
              <a:rPr lang="en-US" sz="2000" b="1" u="sng">
                <a:latin typeface="Aptos"/>
                <a:cs typeface="Times New Roman"/>
              </a:rPr>
              <a:t>Nanoparticles</a:t>
            </a:r>
            <a:endParaRPr lang="en-US" sz="2000">
              <a:latin typeface="Aptos"/>
              <a:cs typeface="Times New Roman"/>
            </a:endParaRPr>
          </a:p>
          <a:p>
            <a:pPr marL="228600" indent="-228600">
              <a:buFont typeface="Arial,Sans-Serif"/>
              <a:buChar char="•"/>
            </a:pPr>
            <a:r>
              <a:rPr lang="en-US" sz="2000">
                <a:latin typeface="Aptos"/>
                <a:cs typeface="Times New Roman"/>
              </a:rPr>
              <a:t>Targeted delivery to tumor cells </a:t>
            </a:r>
          </a:p>
          <a:p>
            <a:pPr marL="228600" indent="-228600">
              <a:buFont typeface="Arial,Sans-Serif"/>
              <a:buChar char="•"/>
            </a:pPr>
            <a:r>
              <a:rPr lang="en-US" sz="2000">
                <a:latin typeface="Aptos"/>
                <a:cs typeface="Times New Roman"/>
              </a:rPr>
              <a:t>Localized dose delivery </a:t>
            </a:r>
          </a:p>
          <a:p>
            <a:pPr marL="228600" indent="-228600">
              <a:buFont typeface="Arial,Sans-Serif"/>
              <a:buChar char="•"/>
            </a:pPr>
            <a:r>
              <a:rPr lang="en-US" sz="2000">
                <a:latin typeface="Aptos"/>
                <a:cs typeface="Times New Roman"/>
              </a:rPr>
              <a:t>Reduced side effects </a:t>
            </a:r>
            <a:endParaRPr lang="en-US" sz="2000">
              <a:latin typeface="Aptos"/>
            </a:endParaRPr>
          </a:p>
          <a:p>
            <a:endParaRPr lang="en-US" sz="170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ED3AC-2BB2-C2C4-EBF4-FFE863AB002E}"/>
              </a:ext>
            </a:extLst>
          </p:cNvPr>
          <p:cNvSpPr txBox="1"/>
          <p:nvPr/>
        </p:nvSpPr>
        <p:spPr>
          <a:xfrm>
            <a:off x="5650302" y="2551982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strike="noStrike" baseline="0">
                <a:solidFill>
                  <a:srgbClr val="000000"/>
                </a:solidFill>
                <a:highlight>
                  <a:srgbClr val="00FFFF"/>
                </a:highlight>
                <a:latin typeface="Times New Roman"/>
              </a:rPr>
              <a:t>Future Goal</a:t>
            </a:r>
            <a:r>
              <a:rPr lang="en-US" sz="2400" b="0" i="0">
                <a:highlight>
                  <a:srgbClr val="00FFFF"/>
                </a:highlight>
                <a:latin typeface="Times New Roman"/>
              </a:rPr>
              <a:t>​</a:t>
            </a:r>
            <a:endParaRPr lang="en-US" sz="2400" b="0" i="0">
              <a:highlight>
                <a:srgbClr val="00FFFF"/>
              </a:highlight>
              <a:latin typeface="Times New Roman"/>
              <a:cs typeface="Times New Roman"/>
            </a:endParaRPr>
          </a:p>
          <a:p>
            <a:pPr lvl="0" algn="ctr" rtl="0"/>
            <a:r>
              <a:rPr lang="en-US" sz="2400" b="0" i="0" strike="noStrike" baseline="0">
                <a:solidFill>
                  <a:srgbClr val="000000"/>
                </a:solidFill>
                <a:highlight>
                  <a:srgbClr val="00FFFF"/>
                </a:highlight>
                <a:latin typeface="Times New Roman"/>
                <a:ea typeface="Arial"/>
                <a:cs typeface="Arial"/>
              </a:rPr>
              <a:t>Towards more precise and personalized nuclear medicine.</a:t>
            </a:r>
            <a:r>
              <a:rPr lang="en-US" sz="2400" b="0" i="0">
                <a:highlight>
                  <a:srgbClr val="00FFFF"/>
                </a:highlight>
                <a:latin typeface="Times New Roman"/>
                <a:ea typeface="Arial"/>
                <a:cs typeface="Arial"/>
              </a:rPr>
              <a:t>​</a:t>
            </a:r>
          </a:p>
          <a:p>
            <a:endParaRPr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28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C812-ED42-40E3-8949-FF6283BE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61550B0-BFF1-A652-D677-10893BA8A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EEE0C-587D-3AF9-37F3-739C648C10B7}"/>
              </a:ext>
            </a:extLst>
          </p:cNvPr>
          <p:cNvSpPr/>
          <p:nvPr/>
        </p:nvSpPr>
        <p:spPr>
          <a:xfrm>
            <a:off x="0" y="6528618"/>
            <a:ext cx="6096000" cy="329381"/>
          </a:xfrm>
          <a:prstGeom prst="rect">
            <a:avLst/>
          </a:prstGeom>
          <a:solidFill>
            <a:srgbClr val="058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latin typeface="Lora"/>
              </a:rPr>
              <a:t>General 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CEF54-84C1-35CC-F614-FE15F154DDFB}"/>
              </a:ext>
            </a:extLst>
          </p:cNvPr>
          <p:cNvSpPr/>
          <p:nvPr/>
        </p:nvSpPr>
        <p:spPr>
          <a:xfrm>
            <a:off x="6096000" y="6528618"/>
            <a:ext cx="6096000" cy="329382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359"/>
              </a:lnSpc>
            </a:pPr>
            <a:r>
              <a:rPr lang="en-US" b="1">
                <a:solidFill>
                  <a:srgbClr val="2D3C54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                                     </a:t>
            </a:r>
            <a:r>
              <a:rPr lang="en-US" b="1">
                <a:solidFill>
                  <a:schemeClr val="bg1"/>
                </a:solidFill>
                <a:latin typeface="Lora" pitchFamily="2" charset="0"/>
                <a:ea typeface="Glacial Indifference Italics"/>
                <a:cs typeface="Glacial Indifference Italics"/>
                <a:sym typeface="Glacial Indifference Italics"/>
              </a:rPr>
              <a:t>11/05/2026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FD4B3-510B-04E1-B701-1057CA648412}"/>
              </a:ext>
            </a:extLst>
          </p:cNvPr>
          <p:cNvSpPr/>
          <p:nvPr/>
        </p:nvSpPr>
        <p:spPr>
          <a:xfrm>
            <a:off x="0" y="1"/>
            <a:ext cx="12192000" cy="639096"/>
          </a:xfrm>
          <a:prstGeom prst="rect">
            <a:avLst/>
          </a:prstGeom>
          <a:solidFill>
            <a:srgbClr val="2CA8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i="0" u="none" strike="noStrike" baseline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General Conclusion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31C02-4090-6ADA-4A6F-8CB6D032FE6C}"/>
              </a:ext>
            </a:extLst>
          </p:cNvPr>
          <p:cNvSpPr txBox="1"/>
          <p:nvPr/>
        </p:nvSpPr>
        <p:spPr>
          <a:xfrm>
            <a:off x="1149985" y="974276"/>
            <a:ext cx="11046878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ptos"/>
                <a:cs typeface="Arial"/>
              </a:rPr>
              <a:t>•</a:t>
            </a:r>
            <a:r>
              <a:rPr lang="en-US" sz="2400">
                <a:latin typeface="Aptos"/>
                <a:cs typeface="Times New Roman"/>
              </a:rPr>
              <a:t>Nuclear physics plays a major role in modern medicine </a:t>
            </a:r>
            <a:endParaRPr lang="en-US"/>
          </a:p>
          <a:p>
            <a:r>
              <a:rPr lang="en-US" sz="2400">
                <a:latin typeface="Aptos"/>
                <a:cs typeface="Times New Roman"/>
              </a:rPr>
              <a:t>•Applications in imaging and therapy improve diagnosis and treatment </a:t>
            </a:r>
          </a:p>
          <a:p>
            <a:r>
              <a:rPr lang="en-US" sz="2400">
                <a:latin typeface="Aptos"/>
                <a:cs typeface="Times New Roman"/>
              </a:rPr>
              <a:t>•Major challenges: </a:t>
            </a:r>
          </a:p>
          <a:p>
            <a:r>
              <a:rPr lang="en-US" sz="2400">
                <a:latin typeface="Aptos"/>
                <a:cs typeface="Times New Roman"/>
              </a:rPr>
              <a:t>      •dose optimization </a:t>
            </a:r>
          </a:p>
          <a:p>
            <a:r>
              <a:rPr lang="en-US" sz="2400">
                <a:latin typeface="Aptos"/>
                <a:cs typeface="Times New Roman"/>
              </a:rPr>
              <a:t>      •spatial precision </a:t>
            </a:r>
          </a:p>
          <a:p>
            <a:r>
              <a:rPr lang="en-US" sz="2400">
                <a:latin typeface="Aptos"/>
                <a:cs typeface="Times New Roman"/>
              </a:rPr>
              <a:t>      •radiation protection </a:t>
            </a:r>
          </a:p>
          <a:p>
            <a:endParaRPr lang="en-US" sz="2400">
              <a:latin typeface="Aptos"/>
              <a:cs typeface="Times New Roman"/>
            </a:endParaRPr>
          </a:p>
          <a:p>
            <a:r>
              <a:rPr lang="en-US" sz="2400">
                <a:latin typeface="Aptos"/>
                <a:cs typeface="Times New Roman"/>
              </a:rPr>
              <a:t>•Future perspectives: </a:t>
            </a:r>
          </a:p>
          <a:p>
            <a:r>
              <a:rPr lang="en-US" sz="2400">
                <a:latin typeface="Aptos"/>
                <a:cs typeface="Times New Roman"/>
              </a:rPr>
              <a:t>      •</a:t>
            </a:r>
            <a:r>
              <a:rPr lang="en-US" sz="2400" err="1">
                <a:latin typeface="Aptos"/>
                <a:cs typeface="Times New Roman"/>
              </a:rPr>
              <a:t>theranostics</a:t>
            </a:r>
            <a:r>
              <a:rPr lang="en-US" sz="2400">
                <a:latin typeface="Aptos"/>
                <a:cs typeface="Times New Roman"/>
              </a:rPr>
              <a:t> </a:t>
            </a:r>
          </a:p>
          <a:p>
            <a:r>
              <a:rPr lang="en-US" sz="2400">
                <a:latin typeface="Aptos"/>
                <a:cs typeface="Times New Roman"/>
              </a:rPr>
              <a:t>      •artificial intelligence </a:t>
            </a:r>
          </a:p>
          <a:p>
            <a:r>
              <a:rPr lang="en-US" sz="2400">
                <a:latin typeface="Aptos"/>
                <a:cs typeface="Times New Roman"/>
              </a:rPr>
              <a:t>      •personalized medicine </a:t>
            </a:r>
          </a:p>
          <a:p>
            <a:endParaRPr lang="en-US" sz="2400">
              <a:latin typeface="Aptos"/>
              <a:cs typeface="Times New Roman"/>
            </a:endParaRPr>
          </a:p>
          <a:p>
            <a:r>
              <a:rPr lang="en-US" sz="2400">
                <a:latin typeface="Aptos"/>
                <a:cs typeface="Times New Roman"/>
              </a:rPr>
              <a:t>•Toward safer, smarter, and more precise healthcare</a:t>
            </a:r>
          </a:p>
          <a:p>
            <a:pPr algn="l"/>
            <a:endParaRPr lang="en-US" sz="1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19943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509952CAE0324093FB32F6D3403254" ma:contentTypeVersion="5" ma:contentTypeDescription="Create a new document." ma:contentTypeScope="" ma:versionID="3f7cb0d31293bb7f3216eccad0dd7980">
  <xsd:schema xmlns:xsd="http://www.w3.org/2001/XMLSchema" xmlns:xs="http://www.w3.org/2001/XMLSchema" xmlns:p="http://schemas.microsoft.com/office/2006/metadata/properties" xmlns:ns3="cd5f2773-fdf3-4b2b-96a2-8811ca94eaaa" targetNamespace="http://schemas.microsoft.com/office/2006/metadata/properties" ma:root="true" ma:fieldsID="66c4ecdaccf5a32ee304d4fcee736417" ns3:_="">
    <xsd:import namespace="cd5f2773-fdf3-4b2b-96a2-8811ca94ea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f2773-fdf3-4b2b-96a2-8811ca94ea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5f2773-fdf3-4b2b-96a2-8811ca94eaa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367A9-772D-4BEB-BDAF-DAB04E4843DA}">
  <ds:schemaRefs>
    <ds:schemaRef ds:uri="cd5f2773-fdf3-4b2b-96a2-8811ca94ea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724CB1-0847-4833-BFBC-88DDF627CE4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d5f2773-fdf3-4b2b-96a2-8811ca94eaaa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7F19F7-8D5C-4FA6-AB6E-D5CB54CA78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2379</Words>
  <Application>Microsoft Office PowerPoint</Application>
  <PresentationFormat>Grand écran</PresentationFormat>
  <Paragraphs>472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42" baseType="lpstr">
      <vt:lpstr>Aptos</vt:lpstr>
      <vt:lpstr>Aptos Display</vt:lpstr>
      <vt:lpstr>Arial</vt:lpstr>
      <vt:lpstr>Arial,Sans-Serif</vt:lpstr>
      <vt:lpstr>Cambria Math</vt:lpstr>
      <vt:lpstr>KaTeX_Main</vt:lpstr>
      <vt:lpstr>Lora</vt:lpstr>
      <vt:lpstr>pplxSerif</vt:lpstr>
      <vt:lpstr>Sitka Display</vt:lpstr>
      <vt:lpstr>Times New Roman</vt:lpstr>
      <vt:lpstr>Trebuchet MS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Ibtissam AIT HADDOU</dc:creator>
  <cp:lastModifiedBy>Ibtissam AIT HADDOU</cp:lastModifiedBy>
  <cp:revision>1</cp:revision>
  <dcterms:created xsi:type="dcterms:W3CDTF">2026-05-10T20:08:56Z</dcterms:created>
  <dcterms:modified xsi:type="dcterms:W3CDTF">2026-05-12T09:05:09Z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0x0101003C509952CAE0324093FB32F6D3403254</vt:lpwstr>
  </property>
</Properties>
</file>